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1" r:id="rId13"/>
    <p:sldId id="267" r:id="rId14"/>
    <p:sldId id="268" r:id="rId15"/>
    <p:sldId id="269" r:id="rId16"/>
    <p:sldId id="270" r:id="rId17"/>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69" d="100"/>
          <a:sy n="69" d="100"/>
        </p:scale>
        <p:origin x="78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1037C7-7F6F-77FD-DB44-EC4993D3017E}"/>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798988C1-960E-D610-6E4C-4E4178A228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8DED07BD-166D-D8F1-C7BA-431014CCEB99}"/>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5" name="Marcador de pie de página 4">
            <a:extLst>
              <a:ext uri="{FF2B5EF4-FFF2-40B4-BE49-F238E27FC236}">
                <a16:creationId xmlns:a16="http://schemas.microsoft.com/office/drawing/2014/main" id="{3EBBE6F3-D32C-8329-2EC4-F5B4FE952F2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CC5A397-4947-7674-4C68-779A536AD986}"/>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13877153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5C71DED-7A63-CEEE-B812-A7EB6CCBD37B}"/>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83C36583-DB07-0CEB-4332-FA8CA1AE823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26A0657-B861-5AD7-26D2-2D3F3688AFD1}"/>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5" name="Marcador de pie de página 4">
            <a:extLst>
              <a:ext uri="{FF2B5EF4-FFF2-40B4-BE49-F238E27FC236}">
                <a16:creationId xmlns:a16="http://schemas.microsoft.com/office/drawing/2014/main" id="{631558E7-82CA-F1C4-AEB3-5F242C474A97}"/>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D002ADD-2373-9540-D345-0A32F7DA0F6F}"/>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15862128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FB27537-6508-2E99-6B63-C5E97BCA747B}"/>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72A5344-62C9-5D94-7568-791F32E313E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0EF678ED-22F4-BF90-4BA2-9CD47EB3B22A}"/>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5" name="Marcador de pie de página 4">
            <a:extLst>
              <a:ext uri="{FF2B5EF4-FFF2-40B4-BE49-F238E27FC236}">
                <a16:creationId xmlns:a16="http://schemas.microsoft.com/office/drawing/2014/main" id="{2F5B325B-CC8F-D27E-7144-5898FF4BDE1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C452DD2-72BC-4C30-A83E-4EA11CEB79CF}"/>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34372120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F3F350-EED8-F7F2-24E5-57537C244B8D}"/>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2CB32F4F-514E-DC90-0097-C3758662BBDE}"/>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2C5D5EFE-10ED-024A-19CC-0B3BC0737C84}"/>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F885829F-43C3-EB80-7987-49EE94A55307}"/>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6" name="Marcador de pie de página 5">
            <a:extLst>
              <a:ext uri="{FF2B5EF4-FFF2-40B4-BE49-F238E27FC236}">
                <a16:creationId xmlns:a16="http://schemas.microsoft.com/office/drawing/2014/main" id="{D76DD4F3-D389-E70D-2C46-76A3FC16B528}"/>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FA8A7C7-ACA2-26CB-97CC-E7F094A958D9}"/>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29918787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33355A-EA19-CAE6-D74F-2602FAC1A99E}"/>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698CED2-F846-C2AF-BC76-119853258F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92F0E04-D522-B487-5162-D868935F7C95}"/>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98521A30-2242-3B04-3C3D-7E02759A9C1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0CABC551-2820-0769-B5AD-4900429CC2A8}"/>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1538C824-C8D9-F5FE-BC19-80AC295DCE66}"/>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8" name="Marcador de pie de página 7">
            <a:extLst>
              <a:ext uri="{FF2B5EF4-FFF2-40B4-BE49-F238E27FC236}">
                <a16:creationId xmlns:a16="http://schemas.microsoft.com/office/drawing/2014/main" id="{5DED1D73-BF3E-6FE2-1E54-12B3C4C01B9E}"/>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E9F3ADB3-FA52-F519-2014-784C403ABE7D}"/>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22587485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97632A-9AF6-AF17-4FCA-0123053D238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A2B5B4CC-DC11-529C-760C-88547C692ED6}"/>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4" name="Marcador de pie de página 3">
            <a:extLst>
              <a:ext uri="{FF2B5EF4-FFF2-40B4-BE49-F238E27FC236}">
                <a16:creationId xmlns:a16="http://schemas.microsoft.com/office/drawing/2014/main" id="{E5B9013A-73CF-92E0-6A16-BF1D4D52CCB2}"/>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4D45AED3-1316-6C87-1C7B-B537E4F6A793}"/>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17568607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D058D11-165D-77B9-2119-D3357FF8552A}"/>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3" name="Marcador de pie de página 2">
            <a:extLst>
              <a:ext uri="{FF2B5EF4-FFF2-40B4-BE49-F238E27FC236}">
                <a16:creationId xmlns:a16="http://schemas.microsoft.com/office/drawing/2014/main" id="{CFED1EED-B540-DAA9-66BC-0DCDE118486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444A9CC3-926C-75C0-32D0-1498098E3DDB}"/>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4840298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DB742C-C25C-0106-7768-33D3EE841E6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3303E574-8C4A-18D9-B17D-856B90BB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D5559218-3C6B-08F2-3AA7-25585296F1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A334D488-7351-71CB-D151-C8A391D678F2}"/>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6" name="Marcador de pie de página 5">
            <a:extLst>
              <a:ext uri="{FF2B5EF4-FFF2-40B4-BE49-F238E27FC236}">
                <a16:creationId xmlns:a16="http://schemas.microsoft.com/office/drawing/2014/main" id="{17B42347-765C-EAC1-F303-6C83813421D9}"/>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9302D0BD-6D47-34DF-7524-9201ED7E77B0}"/>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537298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8FFE80-4354-A4E6-233B-21305B02CDCC}"/>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7B7150A5-CEE6-9C44-2D14-E8170F2B4B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3A3D6EB2-2604-D287-5F17-3EF763EE05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70A16BF-D4A9-C6DD-73BA-A76EAB93EAB7}"/>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6" name="Marcador de pie de página 5">
            <a:extLst>
              <a:ext uri="{FF2B5EF4-FFF2-40B4-BE49-F238E27FC236}">
                <a16:creationId xmlns:a16="http://schemas.microsoft.com/office/drawing/2014/main" id="{F05A2591-FAA3-24D4-1453-F4A511881CEC}"/>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FCBC366-D5E1-FCBC-50A2-B36BAA89C802}"/>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215112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F89472-9C23-FE9E-C3BF-CF2E9289F66D}"/>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167D5835-F8EF-B7EC-FBDD-00C5E8ABCED5}"/>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C63391D3-DCFB-E0F0-D7E1-30D1273B231C}"/>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5" name="Marcador de pie de página 4">
            <a:extLst>
              <a:ext uri="{FF2B5EF4-FFF2-40B4-BE49-F238E27FC236}">
                <a16:creationId xmlns:a16="http://schemas.microsoft.com/office/drawing/2014/main" id="{7DC605C4-9BEB-C901-6D26-6FE649057FFE}"/>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1E869B5-4E50-EDEC-1387-3EBFCCF3E870}"/>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37026238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729C7DA9-5398-B6C5-E0A6-53B95CF2E713}"/>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61FFF081-749F-584E-0D9F-5789696EBBEA}"/>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D9CD4E2-994C-7FB0-F751-C94C2BDB34B1}"/>
              </a:ext>
            </a:extLst>
          </p:cNvPr>
          <p:cNvSpPr>
            <a:spLocks noGrp="1"/>
          </p:cNvSpPr>
          <p:nvPr>
            <p:ph type="dt" sz="half" idx="10"/>
          </p:nvPr>
        </p:nvSpPr>
        <p:spPr/>
        <p:txBody>
          <a:bodyPr/>
          <a:lstStyle/>
          <a:p>
            <a:fld id="{6384DB75-7F64-4CCB-ADDA-7600EAC21B93}" type="datetimeFigureOut">
              <a:rPr lang="es-CO" smtClean="0"/>
              <a:t>27/03/2026</a:t>
            </a:fld>
            <a:endParaRPr lang="es-CO"/>
          </a:p>
        </p:txBody>
      </p:sp>
      <p:sp>
        <p:nvSpPr>
          <p:cNvPr id="5" name="Marcador de pie de página 4">
            <a:extLst>
              <a:ext uri="{FF2B5EF4-FFF2-40B4-BE49-F238E27FC236}">
                <a16:creationId xmlns:a16="http://schemas.microsoft.com/office/drawing/2014/main" id="{EB0F8EF7-1645-7D1A-FDC3-6B2B5B1203DB}"/>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E6F2D488-A143-29C1-4FE2-21B03C584BA5}"/>
              </a:ext>
            </a:extLst>
          </p:cNvPr>
          <p:cNvSpPr>
            <a:spLocks noGrp="1"/>
          </p:cNvSpPr>
          <p:nvPr>
            <p:ph type="sldNum" sz="quarter" idx="12"/>
          </p:nvPr>
        </p:nvSpPr>
        <p:spPr/>
        <p:txBody>
          <a:bodyPr/>
          <a:lstStyle/>
          <a:p>
            <a:fld id="{2ABD853F-2A6C-42BA-A126-A6EA4E92B8CE}" type="slidenum">
              <a:rPr lang="es-CO" smtClean="0"/>
              <a:t>‹Nº›</a:t>
            </a:fld>
            <a:endParaRPr lang="es-CO"/>
          </a:p>
        </p:txBody>
      </p:sp>
    </p:spTree>
    <p:extLst>
      <p:ext uri="{BB962C8B-B14F-4D97-AF65-F5344CB8AC3E}">
        <p14:creationId xmlns:p14="http://schemas.microsoft.com/office/powerpoint/2010/main" val="2000954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E1750460-40AC-E6EA-DEE1-C8D2FBF3D5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A63C555E-668C-9E7A-03A7-43FEF71CB8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DC9E62D-FD99-7ADB-6D02-DB008FD597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384DB75-7F64-4CCB-ADDA-7600EAC21B93}" type="datetimeFigureOut">
              <a:rPr lang="es-CO" smtClean="0"/>
              <a:t>27/03/2026</a:t>
            </a:fld>
            <a:endParaRPr lang="es-CO"/>
          </a:p>
        </p:txBody>
      </p:sp>
      <p:sp>
        <p:nvSpPr>
          <p:cNvPr id="5" name="Marcador de pie de página 4">
            <a:extLst>
              <a:ext uri="{FF2B5EF4-FFF2-40B4-BE49-F238E27FC236}">
                <a16:creationId xmlns:a16="http://schemas.microsoft.com/office/drawing/2014/main" id="{FB69ED17-8EF3-99D5-5312-BBBB028F26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A4CD60D0-9D60-E3B5-5EDC-51644ECF204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ABD853F-2A6C-42BA-A126-A6EA4E92B8CE}" type="slidenum">
              <a:rPr lang="es-CO" smtClean="0"/>
              <a:t>‹Nº›</a:t>
            </a:fld>
            <a:endParaRPr lang="es-CO"/>
          </a:p>
        </p:txBody>
      </p:sp>
    </p:spTree>
    <p:extLst>
      <p:ext uri="{BB962C8B-B14F-4D97-AF65-F5344CB8AC3E}">
        <p14:creationId xmlns:p14="http://schemas.microsoft.com/office/powerpoint/2010/main" val="20489618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slide" Target="slide3.xml"/><Relationship Id="rId1" Type="http://schemas.openxmlformats.org/officeDocument/2006/relationships/slideLayout" Target="../slideLayouts/slideLayout2.xml"/><Relationship Id="rId5" Type="http://schemas.openxmlformats.org/officeDocument/2006/relationships/slide" Target="slide6.xml"/><Relationship Id="rId4" Type="http://schemas.openxmlformats.org/officeDocument/2006/relationships/slide" Target="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jp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B5314C-6883-EA58-92C8-D7BEE4A723C4}"/>
              </a:ext>
            </a:extLst>
          </p:cNvPr>
          <p:cNvSpPr>
            <a:spLocks noGrp="1"/>
          </p:cNvSpPr>
          <p:nvPr>
            <p:ph type="ctrTitle"/>
          </p:nvPr>
        </p:nvSpPr>
        <p:spPr/>
        <p:txBody>
          <a:bodyPr/>
          <a:lstStyle/>
          <a:p>
            <a:r>
              <a:rPr lang="es-CO" dirty="0"/>
              <a:t>DOCUMENTO DE DISEÑO</a:t>
            </a:r>
          </a:p>
        </p:txBody>
      </p:sp>
      <p:sp>
        <p:nvSpPr>
          <p:cNvPr id="3" name="Subtítulo 2">
            <a:extLst>
              <a:ext uri="{FF2B5EF4-FFF2-40B4-BE49-F238E27FC236}">
                <a16:creationId xmlns:a16="http://schemas.microsoft.com/office/drawing/2014/main" id="{B41A5E11-7F28-2416-854C-FC9C99FF4834}"/>
              </a:ext>
            </a:extLst>
          </p:cNvPr>
          <p:cNvSpPr>
            <a:spLocks noGrp="1"/>
          </p:cNvSpPr>
          <p:nvPr>
            <p:ph type="subTitle" idx="1"/>
          </p:nvPr>
        </p:nvSpPr>
        <p:spPr/>
        <p:txBody>
          <a:bodyPr/>
          <a:lstStyle/>
          <a:p>
            <a:r>
              <a:rPr lang="es-CO" dirty="0"/>
              <a:t>Proyecto de juego de plataforma y exploración</a:t>
            </a:r>
            <a:br>
              <a:rPr lang="es-CO" dirty="0"/>
            </a:br>
            <a:r>
              <a:rPr lang="es-CO" dirty="0"/>
              <a:t>Nombre clave: </a:t>
            </a:r>
            <a:r>
              <a:rPr lang="es-CO" dirty="0" err="1"/>
              <a:t>Platformer</a:t>
            </a:r>
            <a:r>
              <a:rPr lang="es-CO" dirty="0"/>
              <a:t> </a:t>
            </a:r>
            <a:r>
              <a:rPr lang="es-CO" dirty="0" err="1"/>
              <a:t>Game</a:t>
            </a:r>
            <a:endParaRPr lang="es-CO" dirty="0"/>
          </a:p>
        </p:txBody>
      </p:sp>
    </p:spTree>
    <p:extLst>
      <p:ext uri="{BB962C8B-B14F-4D97-AF65-F5344CB8AC3E}">
        <p14:creationId xmlns:p14="http://schemas.microsoft.com/office/powerpoint/2010/main" val="5754857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CONTENIDO</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9"/>
            <a:ext cx="11845636" cy="5567795"/>
          </a:xfrm>
        </p:spPr>
        <p:txBody>
          <a:bodyPr>
            <a:normAutofit/>
          </a:bodyPr>
          <a:lstStyle/>
          <a:p>
            <a:r>
              <a:rPr lang="es-CO" sz="1200" dirty="0">
                <a:hlinkClick r:id="rId2" action="ppaction://hlinksldjump"/>
              </a:rPr>
              <a:t>INTRODUCCIÓN</a:t>
            </a:r>
            <a:endParaRPr lang="es-CO" sz="1200" dirty="0"/>
          </a:p>
          <a:p>
            <a:r>
              <a:rPr lang="es-CO" sz="1200" dirty="0"/>
              <a:t>HERRAMIENTAS</a:t>
            </a:r>
          </a:p>
          <a:p>
            <a:pPr lvl="1"/>
            <a:r>
              <a:rPr lang="es-CO" sz="1200" dirty="0">
                <a:hlinkClick r:id="rId3" action="ppaction://hlinksldjump"/>
              </a:rPr>
              <a:t>SOFTWARE</a:t>
            </a:r>
            <a:endParaRPr lang="es-CO" sz="1200" dirty="0"/>
          </a:p>
          <a:p>
            <a:r>
              <a:rPr lang="es-CO" sz="1200" dirty="0">
                <a:hlinkClick r:id="rId4" action="ppaction://hlinksldjump"/>
              </a:rPr>
              <a:t>MECÁNICAS</a:t>
            </a:r>
            <a:endParaRPr lang="es-CO" sz="1200" dirty="0"/>
          </a:p>
          <a:p>
            <a:pPr lvl="1"/>
            <a:r>
              <a:rPr lang="es-CO" sz="1200" dirty="0">
                <a:hlinkClick r:id="rId5" action="ppaction://hlinksldjump"/>
              </a:rPr>
              <a:t>PERSONAJE PRINCIPAL</a:t>
            </a:r>
            <a:endParaRPr lang="es-CO" sz="1200" dirty="0"/>
          </a:p>
        </p:txBody>
      </p:sp>
    </p:spTree>
    <p:extLst>
      <p:ext uri="{BB962C8B-B14F-4D97-AF65-F5344CB8AC3E}">
        <p14:creationId xmlns:p14="http://schemas.microsoft.com/office/powerpoint/2010/main" val="2319869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INTRODUCCIÓN</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9"/>
            <a:ext cx="11845636" cy="5567795"/>
          </a:xfrm>
        </p:spPr>
        <p:txBody>
          <a:bodyPr>
            <a:noAutofit/>
          </a:bodyPr>
          <a:lstStyle/>
          <a:p>
            <a:pPr marL="0" indent="0">
              <a:buNone/>
            </a:pPr>
            <a:r>
              <a:rPr lang="es-CO" sz="1200" dirty="0"/>
              <a:t>El proyecto se inicia como experimento de práctica y educación para ir trabajando las herramientas que ofrece el motor de juegos Godot.</a:t>
            </a:r>
          </a:p>
          <a:p>
            <a:pPr marL="0" indent="0">
              <a:buNone/>
            </a:pPr>
            <a:r>
              <a:rPr lang="es-CO" sz="1200" dirty="0"/>
              <a:t>Se define trabajar en un proyecto de plataformas y exploración tipo </a:t>
            </a:r>
            <a:r>
              <a:rPr lang="es-CO" sz="1200" dirty="0" err="1"/>
              <a:t>metroidvania</a:t>
            </a:r>
            <a:r>
              <a:rPr lang="es-CO" sz="1200" dirty="0"/>
              <a:t>, esto como gusto personal por el tipo de interacciones que ofrecen este tipo de juegos, interacción constante, progresión, desafíos, acertijos (</a:t>
            </a:r>
            <a:r>
              <a:rPr lang="es-CO" sz="1200" dirty="0" err="1"/>
              <a:t>puzzles</a:t>
            </a:r>
            <a:r>
              <a:rPr lang="es-CO" sz="1200" dirty="0"/>
              <a:t>), diseño de niveles, implementación de físicas, combates, diseño de personajes.</a:t>
            </a:r>
          </a:p>
          <a:p>
            <a:pPr marL="0" indent="0">
              <a:buNone/>
            </a:pPr>
            <a:r>
              <a:rPr lang="es-CO" sz="1200" dirty="0"/>
              <a:t>Se espera no crear un juego demasiado complejo y largo, se busca crear mecánicas suficientes para ir conociendo mejor el entorno de desarrollo, mejorar capacidades en diseño, arte, dibujo, música, programación, creación de historia…</a:t>
            </a:r>
          </a:p>
          <a:p>
            <a:pPr marL="0" indent="0">
              <a:buNone/>
            </a:pPr>
            <a:r>
              <a:rPr lang="es-CO" sz="1200" dirty="0"/>
              <a:t>Se opta por usar una estética minimalista y tan sencilla como se pueda, sin descartar la posibilidad de ir agregando algunos componentes avanzados. En este sentido se trabajará principalmente en el modo 2D del motor, usando herramientas sencillas para la creación de gráficos </a:t>
            </a:r>
            <a:r>
              <a:rPr lang="es-CO" sz="1200" dirty="0" err="1"/>
              <a:t>pixelart</a:t>
            </a:r>
            <a:r>
              <a:rPr lang="es-CO" sz="1200" dirty="0"/>
              <a:t> para los personajes, entornos y elementos. Se trabajará con las herramientas que trae el motor Godot para la implementación de físicas y comportamientos de los elementos del juego.</a:t>
            </a:r>
          </a:p>
          <a:p>
            <a:pPr marL="0" indent="0">
              <a:buNone/>
            </a:pPr>
            <a:r>
              <a:rPr lang="es-CO" sz="1200" dirty="0"/>
              <a:t>Para el trabajo de arte visual se usarán herramientas simples como pueden ser </a:t>
            </a:r>
            <a:r>
              <a:rPr lang="es-CO" sz="1200" dirty="0" err="1"/>
              <a:t>Piskel</a:t>
            </a:r>
            <a:r>
              <a:rPr lang="es-CO" sz="1200" dirty="0"/>
              <a:t>, </a:t>
            </a:r>
            <a:r>
              <a:rPr lang="es-CO" sz="1200" dirty="0" err="1"/>
              <a:t>Kitra</a:t>
            </a:r>
            <a:r>
              <a:rPr lang="es-CO" sz="1200" dirty="0"/>
              <a:t>, Libre Sprite, Inkscape.</a:t>
            </a:r>
          </a:p>
          <a:p>
            <a:pPr marL="0" indent="0">
              <a:buNone/>
            </a:pPr>
            <a:r>
              <a:rPr lang="es-CO" sz="1200" dirty="0"/>
              <a:t>Para el trabajo de arte auditiva respecto a música se podría usar herramientas como LMMS, Bosca </a:t>
            </a:r>
            <a:r>
              <a:rPr lang="es-CO" sz="1200" dirty="0" err="1"/>
              <a:t>Ceoil</a:t>
            </a:r>
            <a:r>
              <a:rPr lang="es-CO" sz="1200" dirty="0"/>
              <a:t> Blue.</a:t>
            </a:r>
          </a:p>
          <a:p>
            <a:pPr marL="0" indent="0">
              <a:buNone/>
            </a:pPr>
            <a:r>
              <a:rPr lang="es-CO" sz="1200" dirty="0"/>
              <a:t>Para efectos de sonido se usarán los disponibles en páginas web que recopilen este tipo de recursos.</a:t>
            </a:r>
          </a:p>
          <a:p>
            <a:pPr marL="0" indent="0">
              <a:buNone/>
            </a:pPr>
            <a:r>
              <a:rPr lang="es-CO" sz="1200" dirty="0"/>
              <a:t>Se trabajará también con </a:t>
            </a:r>
            <a:r>
              <a:rPr lang="es-CO" sz="1200" dirty="0" err="1"/>
              <a:t>Github</a:t>
            </a:r>
            <a:r>
              <a:rPr lang="es-CO" sz="1200" dirty="0"/>
              <a:t> para el control de versiones de los archivos fuentes, igualmente sirve como repositorio de </a:t>
            </a:r>
            <a:r>
              <a:rPr lang="es-CO" sz="1200" dirty="0" err="1"/>
              <a:t>backup</a:t>
            </a:r>
            <a:r>
              <a:rPr lang="es-CO" sz="1200" dirty="0"/>
              <a:t>, colaboración y exposición del proyecto, y será también una oportunidad para practicar y mejorar en el uso de esta herramienta.</a:t>
            </a:r>
          </a:p>
        </p:txBody>
      </p:sp>
    </p:spTree>
    <p:extLst>
      <p:ext uri="{BB962C8B-B14F-4D97-AF65-F5344CB8AC3E}">
        <p14:creationId xmlns:p14="http://schemas.microsoft.com/office/powerpoint/2010/main" val="1026267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HERRAMIENTAS - SOFTWARE</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80"/>
            <a:ext cx="11845636" cy="438440"/>
          </a:xfrm>
        </p:spPr>
        <p:txBody>
          <a:bodyPr>
            <a:noAutofit/>
          </a:bodyPr>
          <a:lstStyle/>
          <a:p>
            <a:pPr marL="0" indent="0">
              <a:buNone/>
            </a:pPr>
            <a:r>
              <a:rPr lang="es-CO" sz="1200" dirty="0"/>
              <a:t>Para el desarrollo del proyecto se usaran diferentes herramientas, entre ellas las que tienen que ver con el software se buscará que sean herramientas de uso libre y gratuito, entre ellas se tendrán:</a:t>
            </a:r>
          </a:p>
        </p:txBody>
      </p:sp>
      <p:grpSp>
        <p:nvGrpSpPr>
          <p:cNvPr id="23" name="Grupo 22">
            <a:extLst>
              <a:ext uri="{FF2B5EF4-FFF2-40B4-BE49-F238E27FC236}">
                <a16:creationId xmlns:a16="http://schemas.microsoft.com/office/drawing/2014/main" id="{81ED352A-D8A1-D93B-9C09-0A8F27B3BA58}"/>
              </a:ext>
            </a:extLst>
          </p:cNvPr>
          <p:cNvGrpSpPr/>
          <p:nvPr/>
        </p:nvGrpSpPr>
        <p:grpSpPr>
          <a:xfrm>
            <a:off x="461468" y="1489966"/>
            <a:ext cx="3600000" cy="2232000"/>
            <a:chOff x="461468" y="1363519"/>
            <a:chExt cx="3600000" cy="2232000"/>
          </a:xfrm>
        </p:grpSpPr>
        <p:sp>
          <p:nvSpPr>
            <p:cNvPr id="19" name="Rectángulo 18">
              <a:extLst>
                <a:ext uri="{FF2B5EF4-FFF2-40B4-BE49-F238E27FC236}">
                  <a16:creationId xmlns:a16="http://schemas.microsoft.com/office/drawing/2014/main" id="{A41C26BA-E8B9-0BA4-C7E3-E311B0BAB6AE}"/>
                </a:ext>
              </a:extLst>
            </p:cNvPr>
            <p:cNvSpPr/>
            <p:nvPr/>
          </p:nvSpPr>
          <p:spPr>
            <a:xfrm>
              <a:off x="461468" y="1363519"/>
              <a:ext cx="3600000" cy="2232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contenido 2">
              <a:extLst>
                <a:ext uri="{FF2B5EF4-FFF2-40B4-BE49-F238E27FC236}">
                  <a16:creationId xmlns:a16="http://schemas.microsoft.com/office/drawing/2014/main" id="{B0A0AFED-B76B-E487-2983-3F35F007DF77}"/>
                </a:ext>
              </a:extLst>
            </p:cNvPr>
            <p:cNvSpPr txBox="1">
              <a:spLocks/>
            </p:cNvSpPr>
            <p:nvPr/>
          </p:nvSpPr>
          <p:spPr>
            <a:xfrm>
              <a:off x="461468" y="1363520"/>
              <a:ext cx="3600000" cy="1440000"/>
            </a:xfrm>
            <a:prstGeom prst="rect">
              <a:avLst/>
            </a:prstGeom>
            <a:ln>
              <a:noFill/>
            </a:ln>
          </p:spPr>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es-CO" sz="1200" b="1" dirty="0"/>
                <a:t>Godot </a:t>
              </a:r>
              <a:r>
                <a:rPr lang="es-CO" sz="1200" b="1" dirty="0" err="1"/>
                <a:t>Engine</a:t>
              </a:r>
              <a:r>
                <a:rPr lang="es-CO" sz="1200" dirty="0"/>
                <a:t>: Motor de desarrollo de videojuegos con el que se integrarán todos los componentes (imágenes, música, sonidos (SFX), programación). Se selecciona por ser de uso libre, gratuito, y ya se ha estado estudiando su funcionamiento, por lo que se tiene experiencia en su uso.</a:t>
              </a:r>
            </a:p>
            <a:p>
              <a:pPr marL="0" indent="0" algn="just">
                <a:buFont typeface="Arial" panose="020B0604020202020204" pitchFamily="34" charset="0"/>
                <a:buNone/>
              </a:pPr>
              <a:r>
                <a:rPr lang="es-CO" sz="1200" dirty="0"/>
                <a:t>https://godotengine.org/</a:t>
              </a:r>
            </a:p>
          </p:txBody>
        </p:sp>
        <p:pic>
          <p:nvPicPr>
            <p:cNvPr id="7" name="Imagen 6">
              <a:extLst>
                <a:ext uri="{FF2B5EF4-FFF2-40B4-BE49-F238E27FC236}">
                  <a16:creationId xmlns:a16="http://schemas.microsoft.com/office/drawing/2014/main" id="{979A42D5-DB9E-6BC2-40AD-0867F9F5E61D}"/>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21468" y="2806841"/>
              <a:ext cx="2880000" cy="720000"/>
            </a:xfrm>
            <a:prstGeom prst="rect">
              <a:avLst/>
            </a:prstGeom>
            <a:ln>
              <a:noFill/>
            </a:ln>
          </p:spPr>
        </p:pic>
      </p:grpSp>
      <p:grpSp>
        <p:nvGrpSpPr>
          <p:cNvPr id="24" name="Grupo 23">
            <a:extLst>
              <a:ext uri="{FF2B5EF4-FFF2-40B4-BE49-F238E27FC236}">
                <a16:creationId xmlns:a16="http://schemas.microsoft.com/office/drawing/2014/main" id="{062C986D-073B-FB4E-97FD-6D07C8C810C5}"/>
              </a:ext>
            </a:extLst>
          </p:cNvPr>
          <p:cNvGrpSpPr/>
          <p:nvPr/>
        </p:nvGrpSpPr>
        <p:grpSpPr>
          <a:xfrm>
            <a:off x="4296000" y="1489966"/>
            <a:ext cx="3600000" cy="2232000"/>
            <a:chOff x="4296000" y="1363519"/>
            <a:chExt cx="3600000" cy="2232000"/>
          </a:xfrm>
        </p:grpSpPr>
        <p:sp>
          <p:nvSpPr>
            <p:cNvPr id="8" name="Marcador de contenido 2">
              <a:extLst>
                <a:ext uri="{FF2B5EF4-FFF2-40B4-BE49-F238E27FC236}">
                  <a16:creationId xmlns:a16="http://schemas.microsoft.com/office/drawing/2014/main" id="{3278A6B9-F12F-5C51-5524-077ACDD4E92F}"/>
                </a:ext>
              </a:extLst>
            </p:cNvPr>
            <p:cNvSpPr txBox="1">
              <a:spLocks/>
            </p:cNvSpPr>
            <p:nvPr/>
          </p:nvSpPr>
          <p:spPr>
            <a:xfrm>
              <a:off x="4296000" y="1363519"/>
              <a:ext cx="3600000" cy="1440000"/>
            </a:xfrm>
            <a:prstGeom prst="rect">
              <a:avLst/>
            </a:prstGeom>
          </p:spPr>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es-CO" sz="1200" b="1" dirty="0" err="1"/>
                <a:t>Piskel</a:t>
              </a:r>
              <a:r>
                <a:rPr lang="es-CO" sz="1200" dirty="0"/>
                <a:t>: Herramienta de dibujo, de uso libre y gratuito. Permite crear fácilmente imágenes </a:t>
              </a:r>
              <a:r>
                <a:rPr lang="es-CO" sz="1200" dirty="0" err="1"/>
                <a:t>pixelart</a:t>
              </a:r>
              <a:r>
                <a:rPr lang="es-CO" sz="1200" dirty="0"/>
                <a:t>, tiene uso de capas, animaciones, y exporta a </a:t>
              </a:r>
              <a:r>
                <a:rPr lang="es-CO" sz="1200" dirty="0" err="1"/>
                <a:t>spritesheet</a:t>
              </a:r>
              <a:r>
                <a:rPr lang="es-CO" sz="1200" dirty="0"/>
                <a:t>. Es fácil de usar, y funciona online y también tiene aplicación para escritorio.</a:t>
              </a:r>
            </a:p>
            <a:p>
              <a:pPr marL="0" indent="0" algn="just">
                <a:buFont typeface="Arial" panose="020B0604020202020204" pitchFamily="34" charset="0"/>
                <a:buNone/>
              </a:pPr>
              <a:r>
                <a:rPr lang="es-CO" sz="1200" dirty="0"/>
                <a:t>https://www.piskelapp.com/</a:t>
              </a:r>
            </a:p>
          </p:txBody>
        </p:sp>
        <p:pic>
          <p:nvPicPr>
            <p:cNvPr id="10" name="Imagen 9">
              <a:extLst>
                <a:ext uri="{FF2B5EF4-FFF2-40B4-BE49-F238E27FC236}">
                  <a16:creationId xmlns:a16="http://schemas.microsoft.com/office/drawing/2014/main" id="{6D7C1786-E33B-3DA7-74A0-F68126A324C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56000" y="2806841"/>
              <a:ext cx="2880000" cy="720000"/>
            </a:xfrm>
            <a:prstGeom prst="rect">
              <a:avLst/>
            </a:prstGeom>
          </p:spPr>
        </p:pic>
        <p:sp>
          <p:nvSpPr>
            <p:cNvPr id="20" name="Rectángulo 19">
              <a:extLst>
                <a:ext uri="{FF2B5EF4-FFF2-40B4-BE49-F238E27FC236}">
                  <a16:creationId xmlns:a16="http://schemas.microsoft.com/office/drawing/2014/main" id="{4ECE331E-4D95-D6D6-2FB1-3DFE3281160A}"/>
                </a:ext>
              </a:extLst>
            </p:cNvPr>
            <p:cNvSpPr/>
            <p:nvPr/>
          </p:nvSpPr>
          <p:spPr>
            <a:xfrm>
              <a:off x="4296000" y="1363519"/>
              <a:ext cx="3600000" cy="2232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25" name="Grupo 24">
            <a:extLst>
              <a:ext uri="{FF2B5EF4-FFF2-40B4-BE49-F238E27FC236}">
                <a16:creationId xmlns:a16="http://schemas.microsoft.com/office/drawing/2014/main" id="{142B3C70-25F9-F288-23F2-904254F15862}"/>
              </a:ext>
            </a:extLst>
          </p:cNvPr>
          <p:cNvGrpSpPr/>
          <p:nvPr/>
        </p:nvGrpSpPr>
        <p:grpSpPr>
          <a:xfrm>
            <a:off x="8130532" y="1489965"/>
            <a:ext cx="3600000" cy="2232000"/>
            <a:chOff x="8130532" y="1363518"/>
            <a:chExt cx="3600000" cy="2232000"/>
          </a:xfrm>
        </p:grpSpPr>
        <p:sp>
          <p:nvSpPr>
            <p:cNvPr id="11" name="Marcador de contenido 2">
              <a:extLst>
                <a:ext uri="{FF2B5EF4-FFF2-40B4-BE49-F238E27FC236}">
                  <a16:creationId xmlns:a16="http://schemas.microsoft.com/office/drawing/2014/main" id="{DE857B0C-C950-A9F0-4E7C-B285DB6779B4}"/>
                </a:ext>
              </a:extLst>
            </p:cNvPr>
            <p:cNvSpPr txBox="1">
              <a:spLocks/>
            </p:cNvSpPr>
            <p:nvPr/>
          </p:nvSpPr>
          <p:spPr>
            <a:xfrm>
              <a:off x="8130532" y="1363518"/>
              <a:ext cx="3600000" cy="1440000"/>
            </a:xfrm>
            <a:prstGeom prst="rect">
              <a:avLst/>
            </a:prstGeom>
          </p:spPr>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es-CO" sz="1200" b="1" dirty="0"/>
                <a:t>Inkscape</a:t>
              </a:r>
              <a:r>
                <a:rPr lang="es-CO" sz="1200" dirty="0"/>
                <a:t>: Herramienta de dibujo, de uso libre y gratuito. Permite crear fácilmente imágenes vectoriales (SVG), tiene uso de capas. Es fácil de usar, y ayuda en la creación de arte, íconos, y detalles.</a:t>
              </a:r>
            </a:p>
            <a:p>
              <a:pPr marL="0" indent="0" algn="just">
                <a:buFont typeface="Arial" panose="020B0604020202020204" pitchFamily="34" charset="0"/>
                <a:buNone/>
              </a:pPr>
              <a:r>
                <a:rPr lang="es-CO" sz="1200" dirty="0"/>
                <a:t>https://inkscape.org/</a:t>
              </a:r>
            </a:p>
          </p:txBody>
        </p:sp>
        <p:pic>
          <p:nvPicPr>
            <p:cNvPr id="13" name="Imagen 12">
              <a:extLst>
                <a:ext uri="{FF2B5EF4-FFF2-40B4-BE49-F238E27FC236}">
                  <a16:creationId xmlns:a16="http://schemas.microsoft.com/office/drawing/2014/main" id="{03CFEFA5-3E50-959B-0484-9D8EC92F12E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490532" y="2806841"/>
              <a:ext cx="2880000" cy="720000"/>
            </a:xfrm>
            <a:prstGeom prst="rect">
              <a:avLst/>
            </a:prstGeom>
          </p:spPr>
        </p:pic>
        <p:sp>
          <p:nvSpPr>
            <p:cNvPr id="21" name="Rectángulo 20">
              <a:extLst>
                <a:ext uri="{FF2B5EF4-FFF2-40B4-BE49-F238E27FC236}">
                  <a16:creationId xmlns:a16="http://schemas.microsoft.com/office/drawing/2014/main" id="{CD8BF509-C6B1-4EBA-CF7D-D4D2ECE63078}"/>
                </a:ext>
              </a:extLst>
            </p:cNvPr>
            <p:cNvSpPr/>
            <p:nvPr/>
          </p:nvSpPr>
          <p:spPr>
            <a:xfrm>
              <a:off x="8130532" y="1363518"/>
              <a:ext cx="3600000" cy="2232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26" name="Grupo 25">
            <a:extLst>
              <a:ext uri="{FF2B5EF4-FFF2-40B4-BE49-F238E27FC236}">
                <a16:creationId xmlns:a16="http://schemas.microsoft.com/office/drawing/2014/main" id="{47938EB2-5AC2-B666-E929-D9D0BE3720F8}"/>
              </a:ext>
            </a:extLst>
          </p:cNvPr>
          <p:cNvGrpSpPr/>
          <p:nvPr/>
        </p:nvGrpSpPr>
        <p:grpSpPr>
          <a:xfrm>
            <a:off x="461468" y="4088769"/>
            <a:ext cx="3600000" cy="2232000"/>
            <a:chOff x="461468" y="4088769"/>
            <a:chExt cx="3600000" cy="2232000"/>
          </a:xfrm>
        </p:grpSpPr>
        <p:sp>
          <p:nvSpPr>
            <p:cNvPr id="22" name="Rectángulo 21">
              <a:extLst>
                <a:ext uri="{FF2B5EF4-FFF2-40B4-BE49-F238E27FC236}">
                  <a16:creationId xmlns:a16="http://schemas.microsoft.com/office/drawing/2014/main" id="{A6FAF186-D0B9-3FA5-E706-D25DCA5A3EEF}"/>
                </a:ext>
              </a:extLst>
            </p:cNvPr>
            <p:cNvSpPr/>
            <p:nvPr/>
          </p:nvSpPr>
          <p:spPr>
            <a:xfrm>
              <a:off x="461468" y="4088769"/>
              <a:ext cx="3600000" cy="2232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Marcador de contenido 2">
              <a:extLst>
                <a:ext uri="{FF2B5EF4-FFF2-40B4-BE49-F238E27FC236}">
                  <a16:creationId xmlns:a16="http://schemas.microsoft.com/office/drawing/2014/main" id="{81986DB8-9F0E-F304-3A06-755555B156CE}"/>
                </a:ext>
              </a:extLst>
            </p:cNvPr>
            <p:cNvSpPr txBox="1">
              <a:spLocks/>
            </p:cNvSpPr>
            <p:nvPr/>
          </p:nvSpPr>
          <p:spPr>
            <a:xfrm>
              <a:off x="461468" y="4088769"/>
              <a:ext cx="3600000" cy="1440000"/>
            </a:xfrm>
            <a:prstGeom prst="rect">
              <a:avLst/>
            </a:prstGeom>
          </p:spPr>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es-CO" sz="1200" b="1" dirty="0"/>
                <a:t>LMMS</a:t>
              </a:r>
              <a:r>
                <a:rPr lang="es-CO" sz="1200" dirty="0"/>
                <a:t>: Herramienta de producción musical, de uso libre y gratuito. Permite crear fácilmente temas, tonadas, ritmos y demás relacionados con la música. Es fácil de usar, y maneja varios instrumentos. Permite exportar a diferentes formatos.</a:t>
              </a:r>
            </a:p>
            <a:p>
              <a:pPr marL="0" indent="0" algn="just">
                <a:buFont typeface="Arial" panose="020B0604020202020204" pitchFamily="34" charset="0"/>
                <a:buNone/>
              </a:pPr>
              <a:r>
                <a:rPr lang="es-CO" sz="1200" dirty="0"/>
                <a:t>https://lmms.io/</a:t>
              </a:r>
            </a:p>
          </p:txBody>
        </p:sp>
        <p:pic>
          <p:nvPicPr>
            <p:cNvPr id="16" name="Imagen 15">
              <a:extLst>
                <a:ext uri="{FF2B5EF4-FFF2-40B4-BE49-F238E27FC236}">
                  <a16:creationId xmlns:a16="http://schemas.microsoft.com/office/drawing/2014/main" id="{7B79FD5C-4AB2-9256-5444-E6F5E2F98ABC}"/>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821468" y="5542837"/>
              <a:ext cx="2880000" cy="720000"/>
            </a:xfrm>
            <a:prstGeom prst="rect">
              <a:avLst/>
            </a:prstGeom>
          </p:spPr>
        </p:pic>
      </p:grpSp>
    </p:spTree>
    <p:extLst>
      <p:ext uri="{BB962C8B-B14F-4D97-AF65-F5344CB8AC3E}">
        <p14:creationId xmlns:p14="http://schemas.microsoft.com/office/powerpoint/2010/main" val="25532317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a:t>
            </a:r>
          </a:p>
        </p:txBody>
      </p:sp>
      <mc:AlternateContent xmlns:mc="http://schemas.openxmlformats.org/markup-compatibility/2006">
        <mc:Choice xmlns:a14="http://schemas.microsoft.com/office/drawing/2010/main" Requires="a14">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9"/>
                <a:ext cx="11845636" cy="5567795"/>
              </a:xfrm>
            </p:spPr>
            <p:txBody>
              <a:bodyPr>
                <a:noAutofit/>
              </a:bodyPr>
              <a:lstStyle/>
              <a:p>
                <a:pPr marL="0" indent="0">
                  <a:buNone/>
                </a:pPr>
                <a:r>
                  <a:rPr lang="es-CO" sz="1200" dirty="0"/>
                  <a:t>El juego será creado usando estética 2D, entendiéndose esto como que el movimiento será en un plano sobre los ejes X y </a:t>
                </a:r>
                <a:r>
                  <a:rPr lang="es-CO" sz="1200" dirty="0" err="1"/>
                  <a:t>Y</a:t>
                </a:r>
                <a:r>
                  <a:rPr lang="es-CO" sz="1200" dirty="0"/>
                  <a:t>.</a:t>
                </a:r>
              </a:p>
              <a:p>
                <a:pPr marL="0" indent="0">
                  <a:buNone/>
                </a:pPr>
                <a:r>
                  <a:rPr lang="es-CO" sz="1200" dirty="0"/>
                  <a:t>Se busca representar un mundo similar al mundo real en cuanto al funcionamiento de las físicas, en el sentido de que habrá gravedad lo que hace que los personajes sufran su influencia y sean arrastrados hacia abajo, al suelo.</a:t>
                </a:r>
              </a:p>
              <a:p>
                <a:pPr marL="0" indent="0">
                  <a:buNone/>
                </a:pPr>
                <a:r>
                  <a:rPr lang="es-CO" sz="1200" dirty="0"/>
                  <a:t>El mundo del juego se construirá a través de “Habitaciones” interconectadas que de a poco se irán descubriendo y mostrarán diferentes entornos, como agua, tierra, fuego… En estas habitaciones es donde se desarrollará toda la acción del juego como la exploración, las batallas, los acertijos, la historia…</a:t>
                </a:r>
              </a:p>
              <a:p>
                <a:pPr marL="0" indent="0">
                  <a:buNone/>
                </a:pPr>
                <a:r>
                  <a:rPr lang="es-CO" sz="1200" dirty="0"/>
                  <a:t>Entre los personajes se tendrá al personaje principal capaz de moverse por el entorno con diferentes habilidades, como caminar, saltar, escalar, atacar. Se usará un sistema de subida de niveles para el personaje principal para que mejore sus habilidades, por ejemplo poder saltar más alto, ganar mas vitalidad, usar habilidades luego de otras.</a:t>
                </a:r>
              </a:p>
              <a:p>
                <a:pPr marL="0" indent="0">
                  <a:buNone/>
                </a:pPr>
                <a:r>
                  <a:rPr lang="es-CO" sz="1200" dirty="0"/>
                  <a:t>Habrá enemigos normales en las diferentes habitaciones y entornos, y también jefes de nivel que representen un reto en que el jugador debe usar su destreza controlando al personaje para vencer e ir sumando habilidades al personaje principal.</a:t>
                </a:r>
              </a:p>
              <a:p>
                <a:pPr marL="0" indent="0">
                  <a:buNone/>
                </a:pPr>
                <a:r>
                  <a:rPr lang="es-CO" sz="1200" dirty="0"/>
                  <a:t>Habrá personajes con los que se podrá interactuar, quienes ayudarán a darle vida al mundo, ir contando la historia, y apoyar en ciertos casos.</a:t>
                </a:r>
              </a:p>
              <a:p>
                <a:pPr marL="0" indent="0">
                  <a:buNone/>
                </a:pPr>
                <a:r>
                  <a:rPr lang="es-CO" sz="1200" dirty="0"/>
                  <a:t>Entre los parámetros del juego, se tiene que se usará 16 pixeles como la unidad de medida para 1 metro, y entre las físicas, la gravedad al doble de la que se conoce del mundo real (</a:t>
                </a:r>
                <a14:m>
                  <m:oMath xmlns:m="http://schemas.openxmlformats.org/officeDocument/2006/math">
                    <m:r>
                      <a:rPr lang="es-CO" sz="1200" b="0" i="1" smtClean="0">
                        <a:latin typeface="Cambria Math" panose="02040503050406030204" pitchFamily="18" charset="0"/>
                        <a:ea typeface="Cambria Math" panose="02040503050406030204" pitchFamily="18" charset="0"/>
                      </a:rPr>
                      <m:t>9.8 </m:t>
                    </m:r>
                    <m:f>
                      <m:fPr>
                        <m:type m:val="lin"/>
                        <m:ctrlPr>
                          <a:rPr lang="es-CO" sz="1200" b="0" i="1" smtClean="0">
                            <a:latin typeface="Cambria Math" panose="02040503050406030204" pitchFamily="18" charset="0"/>
                            <a:ea typeface="Cambria Math" panose="02040503050406030204" pitchFamily="18" charset="0"/>
                          </a:rPr>
                        </m:ctrlPr>
                      </m:fPr>
                      <m:num>
                        <m:r>
                          <a:rPr lang="es-CO" sz="1200" b="0" i="1" smtClean="0">
                            <a:latin typeface="Cambria Math" panose="02040503050406030204" pitchFamily="18" charset="0"/>
                            <a:ea typeface="Cambria Math" panose="02040503050406030204" pitchFamily="18" charset="0"/>
                          </a:rPr>
                          <m:t>𝑚</m:t>
                        </m:r>
                      </m:num>
                      <m:den>
                        <m:sSup>
                          <m:sSupPr>
                            <m:ctrlPr>
                              <a:rPr lang="es-CO" sz="1200" b="0" i="1" smtClean="0">
                                <a:latin typeface="Cambria Math" panose="02040503050406030204" pitchFamily="18" charset="0"/>
                                <a:ea typeface="Cambria Math" panose="02040503050406030204" pitchFamily="18" charset="0"/>
                              </a:rPr>
                            </m:ctrlPr>
                          </m:sSupPr>
                          <m:e>
                            <m:r>
                              <a:rPr lang="es-CO" sz="1200" b="0" i="1" smtClean="0">
                                <a:latin typeface="Cambria Math" panose="02040503050406030204" pitchFamily="18" charset="0"/>
                                <a:ea typeface="Cambria Math" panose="02040503050406030204" pitchFamily="18" charset="0"/>
                              </a:rPr>
                              <m:t>𝑠</m:t>
                            </m:r>
                          </m:e>
                          <m:sup>
                            <m:r>
                              <a:rPr lang="es-CO" sz="1200" b="0" i="1" smtClean="0">
                                <a:latin typeface="Cambria Math" panose="02040503050406030204" pitchFamily="18" charset="0"/>
                                <a:ea typeface="Cambria Math" panose="02040503050406030204" pitchFamily="18" charset="0"/>
                              </a:rPr>
                              <m:t>2</m:t>
                            </m:r>
                          </m:sup>
                        </m:sSup>
                      </m:den>
                    </m:f>
                  </m:oMath>
                </a14:m>
                <a:r>
                  <a:rPr lang="es-CO" sz="1200" dirty="0"/>
                  <a:t>), solo que en lugar de metros se usan pixeles, es decir:</a:t>
                </a:r>
              </a:p>
              <a:p>
                <a:pPr marL="0" indent="0">
                  <a:buNone/>
                </a:pPr>
                <a:endParaRPr lang="es-CO" sz="12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s-CO" sz="1200" b="0" i="1" smtClean="0">
                          <a:latin typeface="Cambria Math" panose="02040503050406030204" pitchFamily="18" charset="0"/>
                        </a:rPr>
                        <m:t>𝑔</m:t>
                      </m:r>
                      <m:r>
                        <a:rPr lang="es-CO" sz="1200" b="0" i="1" smtClean="0">
                          <a:latin typeface="Cambria Math" panose="02040503050406030204" pitchFamily="18" charset="0"/>
                          <a:ea typeface="Cambria Math" panose="02040503050406030204" pitchFamily="18" charset="0"/>
                        </a:rPr>
                        <m:t>=9.8 </m:t>
                      </m:r>
                      <m:f>
                        <m:fPr>
                          <m:type m:val="lin"/>
                          <m:ctrlPr>
                            <a:rPr lang="es-CO" sz="1200" b="0" i="1" smtClean="0">
                              <a:latin typeface="Cambria Math" panose="02040503050406030204" pitchFamily="18" charset="0"/>
                              <a:ea typeface="Cambria Math" panose="02040503050406030204" pitchFamily="18" charset="0"/>
                            </a:rPr>
                          </m:ctrlPr>
                        </m:fPr>
                        <m:num>
                          <m:r>
                            <a:rPr lang="es-CO" sz="1200" b="0" i="1" smtClean="0">
                              <a:latin typeface="Cambria Math" panose="02040503050406030204" pitchFamily="18" charset="0"/>
                              <a:ea typeface="Cambria Math" panose="02040503050406030204" pitchFamily="18" charset="0"/>
                            </a:rPr>
                            <m:t>𝑝𝑥</m:t>
                          </m:r>
                        </m:num>
                        <m:den>
                          <m:sSup>
                            <m:sSupPr>
                              <m:ctrlPr>
                                <a:rPr lang="es-CO" sz="1200" b="0" i="1" smtClean="0">
                                  <a:latin typeface="Cambria Math" panose="02040503050406030204" pitchFamily="18" charset="0"/>
                                  <a:ea typeface="Cambria Math" panose="02040503050406030204" pitchFamily="18" charset="0"/>
                                </a:rPr>
                              </m:ctrlPr>
                            </m:sSupPr>
                            <m:e>
                              <m:r>
                                <a:rPr lang="es-CO" sz="1200" b="0" i="1" smtClean="0">
                                  <a:latin typeface="Cambria Math" panose="02040503050406030204" pitchFamily="18" charset="0"/>
                                  <a:ea typeface="Cambria Math" panose="02040503050406030204" pitchFamily="18" charset="0"/>
                                </a:rPr>
                                <m:t>𝑠</m:t>
                              </m:r>
                            </m:e>
                            <m:sup>
                              <m:r>
                                <a:rPr lang="es-CO" sz="1200" b="0" i="1" smtClean="0">
                                  <a:latin typeface="Cambria Math" panose="02040503050406030204" pitchFamily="18" charset="0"/>
                                  <a:ea typeface="Cambria Math" panose="02040503050406030204" pitchFamily="18" charset="0"/>
                                </a:rPr>
                                <m:t>2</m:t>
                              </m:r>
                            </m:sup>
                          </m:sSup>
                        </m:den>
                      </m:f>
                      <m:r>
                        <a:rPr lang="es-CO" sz="1200" b="0" i="1" smtClean="0">
                          <a:latin typeface="Cambria Math" panose="02040503050406030204" pitchFamily="18" charset="0"/>
                          <a:ea typeface="Cambria Math" panose="02040503050406030204" pitchFamily="18" charset="0"/>
                        </a:rPr>
                        <m:t> </m:t>
                      </m:r>
                      <m:r>
                        <a:rPr lang="es-CO" sz="1200" b="0" i="1" smtClean="0">
                          <a:latin typeface="Cambria Math" panose="02040503050406030204" pitchFamily="18" charset="0"/>
                          <a:ea typeface="Cambria Math" panose="02040503050406030204" pitchFamily="18" charset="0"/>
                        </a:rPr>
                        <m:t>𝑥</m:t>
                      </m:r>
                    </m:oMath>
                  </m:oMathPara>
                </a14:m>
                <a:endParaRPr lang="es-CO" sz="12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s-CO" sz="1200" b="0" i="1" smtClean="0">
                          <a:latin typeface="Cambria Math" panose="02040503050406030204" pitchFamily="18" charset="0"/>
                          <a:ea typeface="Cambria Math" panose="02040503050406030204" pitchFamily="18" charset="0"/>
                        </a:rPr>
                        <m:t>𝑔</m:t>
                      </m:r>
                      <m:r>
                        <a:rPr lang="es-CO" sz="1200" b="0" i="1" smtClean="0">
                          <a:latin typeface="Cambria Math" panose="02040503050406030204" pitchFamily="18" charset="0"/>
                          <a:ea typeface="Cambria Math" panose="02040503050406030204" pitchFamily="18" charset="0"/>
                        </a:rPr>
                        <m:t>=19.6 </m:t>
                      </m:r>
                      <m:f>
                        <m:fPr>
                          <m:type m:val="lin"/>
                          <m:ctrlPr>
                            <a:rPr lang="es-CO" sz="1200" i="1">
                              <a:latin typeface="Cambria Math" panose="02040503050406030204" pitchFamily="18" charset="0"/>
                              <a:ea typeface="Cambria Math" panose="02040503050406030204" pitchFamily="18" charset="0"/>
                            </a:rPr>
                          </m:ctrlPr>
                        </m:fPr>
                        <m:num>
                          <m:r>
                            <a:rPr lang="es-CO" sz="1200" i="1">
                              <a:latin typeface="Cambria Math" panose="02040503050406030204" pitchFamily="18" charset="0"/>
                              <a:ea typeface="Cambria Math" panose="02040503050406030204" pitchFamily="18" charset="0"/>
                            </a:rPr>
                            <m:t>𝑝𝑥</m:t>
                          </m:r>
                        </m:num>
                        <m:den>
                          <m:sSup>
                            <m:sSupPr>
                              <m:ctrlPr>
                                <a:rPr lang="es-CO" sz="1200" i="1">
                                  <a:latin typeface="Cambria Math" panose="02040503050406030204" pitchFamily="18" charset="0"/>
                                  <a:ea typeface="Cambria Math" panose="02040503050406030204" pitchFamily="18" charset="0"/>
                                </a:rPr>
                              </m:ctrlPr>
                            </m:sSupPr>
                            <m:e>
                              <m:r>
                                <a:rPr lang="es-CO" sz="1200" i="1">
                                  <a:latin typeface="Cambria Math" panose="02040503050406030204" pitchFamily="18" charset="0"/>
                                  <a:ea typeface="Cambria Math" panose="02040503050406030204" pitchFamily="18" charset="0"/>
                                </a:rPr>
                                <m:t>𝑠</m:t>
                              </m:r>
                            </m:e>
                            <m:sup>
                              <m:r>
                                <a:rPr lang="es-CO" sz="1200" i="1">
                                  <a:latin typeface="Cambria Math" panose="02040503050406030204" pitchFamily="18" charset="0"/>
                                  <a:ea typeface="Cambria Math" panose="02040503050406030204" pitchFamily="18" charset="0"/>
                                </a:rPr>
                                <m:t>2</m:t>
                              </m:r>
                            </m:sup>
                          </m:sSup>
                        </m:den>
                      </m:f>
                    </m:oMath>
                  </m:oMathPara>
                </a14:m>
                <a:endParaRPr lang="es-CO" sz="1200" dirty="0"/>
              </a:p>
              <a:p>
                <a:pPr marL="0" indent="0">
                  <a:buNone/>
                </a:pPr>
                <a:endParaRPr lang="es-CO" sz="1200" dirty="0"/>
              </a:p>
            </p:txBody>
          </p:sp>
        </mc:Choice>
        <mc:Fallback>
          <p:sp>
            <p:nvSpPr>
              <p:cNvPr id="3" name="Marcador de contenido 2">
                <a:extLst>
                  <a:ext uri="{FF2B5EF4-FFF2-40B4-BE49-F238E27FC236}">
                    <a16:creationId xmlns:a16="http://schemas.microsoft.com/office/drawing/2014/main" id="{D6B029B8-96C3-7686-DF83-8FA77A263F2C}"/>
                  </a:ext>
                </a:extLst>
              </p:cNvPr>
              <p:cNvSpPr>
                <a:spLocks noGrp="1" noRot="1" noChangeAspect="1" noMove="1" noResize="1" noEditPoints="1" noAdjustHandles="1" noChangeArrowheads="1" noChangeShapeType="1" noTextEdit="1"/>
              </p:cNvSpPr>
              <p:nvPr>
                <p:ph idx="1"/>
              </p:nvPr>
            </p:nvSpPr>
            <p:spPr>
              <a:xfrm>
                <a:off x="166255" y="925079"/>
                <a:ext cx="11845636" cy="5567795"/>
              </a:xfrm>
              <a:blipFill>
                <a:blip r:embed="rId2"/>
                <a:stretch>
                  <a:fillRect t="-438"/>
                </a:stretch>
              </a:blipFill>
            </p:spPr>
            <p:txBody>
              <a:bodyPr/>
              <a:lstStyle/>
              <a:p>
                <a:r>
                  <a:rPr lang="es-CO">
                    <a:noFill/>
                  </a:rPr>
                  <a:t> </a:t>
                </a:r>
              </a:p>
            </p:txBody>
          </p:sp>
        </mc:Fallback>
      </mc:AlternateContent>
    </p:spTree>
    <p:extLst>
      <p:ext uri="{BB962C8B-B14F-4D97-AF65-F5344CB8AC3E}">
        <p14:creationId xmlns:p14="http://schemas.microsoft.com/office/powerpoint/2010/main" val="1491352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9"/>
            <a:ext cx="11845636" cy="1305503"/>
          </a:xfrm>
        </p:spPr>
        <p:txBody>
          <a:bodyPr>
            <a:noAutofit/>
          </a:bodyPr>
          <a:lstStyle/>
          <a:p>
            <a:pPr marL="0" indent="0">
              <a:buNone/>
            </a:pPr>
            <a:r>
              <a:rPr lang="es-CO" sz="1200" dirty="0"/>
              <a:t>El personaje principal es el que será controlado por el jugador. Este personaje tendrá una movilidad en el mundo del juego con un desplazamiento en los ejes X y </a:t>
            </a:r>
            <a:r>
              <a:rPr lang="es-CO" sz="1200" dirty="0" err="1"/>
              <a:t>Y</a:t>
            </a:r>
            <a:r>
              <a:rPr lang="es-CO" sz="1200" dirty="0"/>
              <a:t>. Su comportamiento estará definido por las diferentes interacciones que tenga con el mundo, y estos comportamientos se definen a partir de diferentes estados, los que se detallan a continuación:</a:t>
            </a:r>
          </a:p>
          <a:p>
            <a:pPr marL="0" indent="0">
              <a:buNone/>
            </a:pPr>
            <a:r>
              <a:rPr lang="es-CO" sz="1200" b="1" dirty="0"/>
              <a:t>REPOSO (IDLE)</a:t>
            </a:r>
            <a:r>
              <a:rPr lang="es-CO" sz="1200" dirty="0"/>
              <a:t>: En este estado el personaje está en reposo, está quieto. Ocurre cuando el jugador no ejecuta ninguna acción para controlarlo y este está en el suelo. Aquí se mostrará una animación inicial del personaje como respirando, con un movimiento mínimo de su cuerpo subiendo y bajando. Después de un tiempo en esta animación, podrá pasar a otras animaciones como pestañar, mirar alrededor.</a:t>
            </a:r>
          </a:p>
        </p:txBody>
      </p:sp>
      <p:grpSp>
        <p:nvGrpSpPr>
          <p:cNvPr id="12" name="Grupo 11">
            <a:extLst>
              <a:ext uri="{FF2B5EF4-FFF2-40B4-BE49-F238E27FC236}">
                <a16:creationId xmlns:a16="http://schemas.microsoft.com/office/drawing/2014/main" id="{A7E98695-6D5A-34B0-684C-7C7E50C768A9}"/>
              </a:ext>
            </a:extLst>
          </p:cNvPr>
          <p:cNvGrpSpPr/>
          <p:nvPr/>
        </p:nvGrpSpPr>
        <p:grpSpPr>
          <a:xfrm>
            <a:off x="2590800" y="2334491"/>
            <a:ext cx="7010400" cy="609600"/>
            <a:chOff x="3020290" y="2334491"/>
            <a:chExt cx="7010400" cy="609600"/>
          </a:xfrm>
        </p:grpSpPr>
        <p:pic>
          <p:nvPicPr>
            <p:cNvPr id="5" name="Imagen 4">
              <a:extLst>
                <a:ext uri="{FF2B5EF4-FFF2-40B4-BE49-F238E27FC236}">
                  <a16:creationId xmlns:a16="http://schemas.microsoft.com/office/drawing/2014/main" id="{4C5C7708-20F9-A2E7-568B-B31D84D031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290" y="2334491"/>
              <a:ext cx="609600" cy="304800"/>
            </a:xfrm>
            <a:prstGeom prst="rect">
              <a:avLst/>
            </a:prstGeom>
          </p:spPr>
        </p:pic>
        <p:pic>
          <p:nvPicPr>
            <p:cNvPr id="7" name="Imagen 6">
              <a:extLst>
                <a:ext uri="{FF2B5EF4-FFF2-40B4-BE49-F238E27FC236}">
                  <a16:creationId xmlns:a16="http://schemas.microsoft.com/office/drawing/2014/main" id="{EE678A75-9A9C-8ADE-016F-E3C880A3A6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34690" y="2334491"/>
              <a:ext cx="1828800" cy="304800"/>
            </a:xfrm>
            <a:prstGeom prst="rect">
              <a:avLst/>
            </a:prstGeom>
          </p:spPr>
        </p:pic>
        <p:pic>
          <p:nvPicPr>
            <p:cNvPr id="11" name="Imagen 10" descr="Logotipo&#10;&#10;El contenido generado por IA puede ser incorrecto.">
              <a:extLst>
                <a:ext uri="{FF2B5EF4-FFF2-40B4-BE49-F238E27FC236}">
                  <a16:creationId xmlns:a16="http://schemas.microsoft.com/office/drawing/2014/main" id="{769AFFAD-267E-5030-D7F1-ADD22C11BF3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68290" y="2334491"/>
              <a:ext cx="3962400" cy="609600"/>
            </a:xfrm>
            <a:prstGeom prst="rect">
              <a:avLst/>
            </a:prstGeom>
          </p:spPr>
        </p:pic>
      </p:grpSp>
      <p:sp>
        <p:nvSpPr>
          <p:cNvPr id="13" name="Marcador de contenido 2">
            <a:extLst>
              <a:ext uri="{FF2B5EF4-FFF2-40B4-BE49-F238E27FC236}">
                <a16:creationId xmlns:a16="http://schemas.microsoft.com/office/drawing/2014/main" id="{8B9BEE07-0609-805A-A7A1-C83C01C2EA1D}"/>
              </a:ext>
            </a:extLst>
          </p:cNvPr>
          <p:cNvSpPr txBox="1">
            <a:spLocks/>
          </p:cNvSpPr>
          <p:nvPr/>
        </p:nvSpPr>
        <p:spPr>
          <a:xfrm>
            <a:off x="180109" y="3149023"/>
            <a:ext cx="2923309" cy="334385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Condiciones para estar en este estado</a:t>
            </a:r>
            <a:r>
              <a:rPr lang="es-CO" sz="1200" dirty="0"/>
              <a:t>:</a:t>
            </a:r>
          </a:p>
          <a:p>
            <a:pPr>
              <a:buFontTx/>
              <a:buChar char="-"/>
            </a:pPr>
            <a:r>
              <a:rPr lang="es-CO" sz="1200" dirty="0"/>
              <a:t>El personaje debe estar en el suelo.</a:t>
            </a:r>
          </a:p>
          <a:p>
            <a:pPr>
              <a:buFontTx/>
              <a:buChar char="-"/>
            </a:pPr>
            <a:r>
              <a:rPr lang="es-CO" sz="1200" dirty="0"/>
              <a:t>El jugador no debe estar indicando alguna acción sobre el control.</a:t>
            </a:r>
          </a:p>
        </p:txBody>
      </p:sp>
      <p:sp>
        <p:nvSpPr>
          <p:cNvPr id="14" name="Marcador de contenido 2">
            <a:extLst>
              <a:ext uri="{FF2B5EF4-FFF2-40B4-BE49-F238E27FC236}">
                <a16:creationId xmlns:a16="http://schemas.microsoft.com/office/drawing/2014/main" id="{166DE6B4-E7AB-EE02-D3B3-83ADB8B78E74}"/>
              </a:ext>
            </a:extLst>
          </p:cNvPr>
          <p:cNvSpPr txBox="1">
            <a:spLocks/>
          </p:cNvSpPr>
          <p:nvPr/>
        </p:nvSpPr>
        <p:spPr>
          <a:xfrm>
            <a:off x="4267200" y="3149023"/>
            <a:ext cx="2923309" cy="334385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Desde este estado se puede pasar a los siguientes estados</a:t>
            </a:r>
            <a:r>
              <a:rPr lang="es-CO" sz="1200" dirty="0"/>
              <a:t>:</a:t>
            </a:r>
          </a:p>
          <a:p>
            <a:pPr>
              <a:buFontTx/>
              <a:buChar char="-"/>
            </a:pPr>
            <a:r>
              <a:rPr lang="es-CO" sz="1200" dirty="0"/>
              <a:t>Salto (</a:t>
            </a:r>
            <a:r>
              <a:rPr lang="es-CO" sz="1200" dirty="0" err="1"/>
              <a:t>Jump</a:t>
            </a:r>
            <a:r>
              <a:rPr lang="es-CO" sz="1200" dirty="0"/>
              <a:t>)</a:t>
            </a:r>
          </a:p>
          <a:p>
            <a:pPr>
              <a:buFontTx/>
              <a:buChar char="-"/>
            </a:pPr>
            <a:r>
              <a:rPr lang="es-CO" sz="1200" dirty="0"/>
              <a:t>Caminar (</a:t>
            </a:r>
            <a:r>
              <a:rPr lang="es-CO" sz="1200" dirty="0" err="1"/>
              <a:t>Walk</a:t>
            </a:r>
            <a:r>
              <a:rPr lang="es-CO" sz="1200" dirty="0"/>
              <a:t>)</a:t>
            </a:r>
          </a:p>
          <a:p>
            <a:pPr>
              <a:buFontTx/>
              <a:buChar char="-"/>
            </a:pPr>
            <a:r>
              <a:rPr lang="es-CO" sz="1200" dirty="0"/>
              <a:t>Caer (</a:t>
            </a:r>
            <a:r>
              <a:rPr lang="es-CO" sz="1200" dirty="0" err="1"/>
              <a:t>Falling</a:t>
            </a:r>
            <a:r>
              <a:rPr lang="es-CO" sz="1200" dirty="0"/>
              <a:t>)</a:t>
            </a:r>
          </a:p>
          <a:p>
            <a:pPr>
              <a:buFontTx/>
              <a:buChar char="-"/>
            </a:pPr>
            <a:r>
              <a:rPr lang="es-CO" sz="1200" dirty="0"/>
              <a:t>Daño (</a:t>
            </a:r>
            <a:r>
              <a:rPr lang="es-CO" sz="1200" dirty="0" err="1"/>
              <a:t>Damage</a:t>
            </a:r>
            <a:r>
              <a:rPr lang="es-CO" sz="1200" dirty="0"/>
              <a:t>)</a:t>
            </a:r>
          </a:p>
          <a:p>
            <a:pPr>
              <a:buFontTx/>
              <a:buChar char="-"/>
            </a:pPr>
            <a:r>
              <a:rPr lang="es-CO" sz="1200" dirty="0"/>
              <a:t>Impulso (</a:t>
            </a:r>
            <a:r>
              <a:rPr lang="es-CO" sz="1200" dirty="0" err="1"/>
              <a:t>Dash</a:t>
            </a:r>
            <a:r>
              <a:rPr lang="es-CO" sz="1200" dirty="0"/>
              <a:t>)</a:t>
            </a:r>
          </a:p>
        </p:txBody>
      </p:sp>
      <p:sp>
        <p:nvSpPr>
          <p:cNvPr id="15" name="Marcador de contenido 2">
            <a:extLst>
              <a:ext uri="{FF2B5EF4-FFF2-40B4-BE49-F238E27FC236}">
                <a16:creationId xmlns:a16="http://schemas.microsoft.com/office/drawing/2014/main" id="{9183BADD-5E96-EE1A-E0D1-A021780E8E2B}"/>
              </a:ext>
            </a:extLst>
          </p:cNvPr>
          <p:cNvSpPr txBox="1">
            <a:spLocks/>
          </p:cNvSpPr>
          <p:nvPr/>
        </p:nvSpPr>
        <p:spPr>
          <a:xfrm>
            <a:off x="8354291" y="3149022"/>
            <a:ext cx="3657600" cy="334385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Se llega a este estado desde los siguientes estados</a:t>
            </a:r>
            <a:r>
              <a:rPr lang="es-CO" sz="1200" dirty="0"/>
              <a:t>:</a:t>
            </a:r>
          </a:p>
          <a:p>
            <a:pPr>
              <a:buFontTx/>
              <a:buChar char="-"/>
            </a:pPr>
            <a:r>
              <a:rPr lang="es-CO" sz="1200" dirty="0"/>
              <a:t>Salto (</a:t>
            </a:r>
            <a:r>
              <a:rPr lang="es-CO" sz="1200" dirty="0" err="1"/>
              <a:t>Jump</a:t>
            </a:r>
            <a:r>
              <a:rPr lang="es-CO" sz="1200" dirty="0"/>
              <a:t>) – Si la velocidad vertical es de caída.</a:t>
            </a:r>
          </a:p>
          <a:p>
            <a:pPr>
              <a:buFontTx/>
              <a:buChar char="-"/>
            </a:pPr>
            <a:r>
              <a:rPr lang="es-CO" sz="1200" dirty="0"/>
              <a:t>Doble Salto (</a:t>
            </a:r>
            <a:r>
              <a:rPr lang="es-CO" sz="1200" dirty="0" err="1"/>
              <a:t>Double</a:t>
            </a:r>
            <a:r>
              <a:rPr lang="es-CO" sz="1200" dirty="0"/>
              <a:t> </a:t>
            </a:r>
            <a:r>
              <a:rPr lang="es-CO" sz="1200" dirty="0" err="1"/>
              <a:t>Jump</a:t>
            </a:r>
            <a:r>
              <a:rPr lang="es-CO" sz="1200" dirty="0"/>
              <a:t>) – Si la velocidad vertical es de caída.</a:t>
            </a:r>
          </a:p>
          <a:p>
            <a:pPr>
              <a:buFontTx/>
              <a:buChar char="-"/>
            </a:pPr>
            <a:r>
              <a:rPr lang="es-CO" sz="1200" dirty="0"/>
              <a:t>Salto de Pared (Wall </a:t>
            </a:r>
            <a:r>
              <a:rPr lang="es-CO" sz="1200" dirty="0" err="1"/>
              <a:t>Jump</a:t>
            </a:r>
            <a:r>
              <a:rPr lang="es-CO" sz="1200" dirty="0"/>
              <a:t>) – Si la velocidad vertical es de caída.</a:t>
            </a:r>
          </a:p>
          <a:p>
            <a:pPr>
              <a:buFontTx/>
              <a:buChar char="-"/>
            </a:pPr>
            <a:r>
              <a:rPr lang="es-CO" sz="1200" dirty="0"/>
              <a:t>Caminar (</a:t>
            </a:r>
            <a:r>
              <a:rPr lang="es-CO" sz="1200" dirty="0" err="1"/>
              <a:t>Walk</a:t>
            </a:r>
            <a:r>
              <a:rPr lang="es-CO" sz="1200" dirty="0"/>
              <a:t>)</a:t>
            </a:r>
          </a:p>
          <a:p>
            <a:pPr>
              <a:buFontTx/>
              <a:buChar char="-"/>
            </a:pPr>
            <a:r>
              <a:rPr lang="es-CO" sz="1200" dirty="0"/>
              <a:t>Caer (</a:t>
            </a:r>
            <a:r>
              <a:rPr lang="es-CO" sz="1200" dirty="0" err="1"/>
              <a:t>Falling</a:t>
            </a:r>
            <a:r>
              <a:rPr lang="es-CO" sz="1200" dirty="0"/>
              <a:t>)</a:t>
            </a:r>
          </a:p>
          <a:p>
            <a:pPr>
              <a:buFontTx/>
              <a:buChar char="-"/>
            </a:pPr>
            <a:r>
              <a:rPr lang="es-CO" sz="1200" dirty="0"/>
              <a:t>Daño (</a:t>
            </a:r>
            <a:r>
              <a:rPr lang="es-CO" sz="1200" dirty="0" err="1"/>
              <a:t>Damage</a:t>
            </a:r>
            <a:r>
              <a:rPr lang="es-CO" sz="1200" dirty="0"/>
              <a:t>)</a:t>
            </a:r>
          </a:p>
          <a:p>
            <a:pPr>
              <a:buFontTx/>
              <a:buChar char="-"/>
            </a:pPr>
            <a:r>
              <a:rPr lang="es-CO" sz="1200" dirty="0"/>
              <a:t>Impulso (</a:t>
            </a:r>
            <a:r>
              <a:rPr lang="es-CO" sz="1200" dirty="0" err="1"/>
              <a:t>Dash</a:t>
            </a:r>
            <a:r>
              <a:rPr lang="es-CO" sz="1200" dirty="0"/>
              <a:t>)</a:t>
            </a:r>
          </a:p>
          <a:p>
            <a:pPr>
              <a:buFontTx/>
              <a:buChar char="-"/>
            </a:pPr>
            <a:r>
              <a:rPr lang="es-CO" sz="1200" dirty="0"/>
              <a:t>Deslizamiento en Pared (Wall </a:t>
            </a:r>
            <a:r>
              <a:rPr lang="es-CO" sz="1200" dirty="0" err="1"/>
              <a:t>Slide</a:t>
            </a:r>
            <a:r>
              <a:rPr lang="es-CO" sz="1200" dirty="0"/>
              <a:t>)</a:t>
            </a:r>
          </a:p>
        </p:txBody>
      </p:sp>
    </p:spTree>
    <p:extLst>
      <p:ext uri="{BB962C8B-B14F-4D97-AF65-F5344CB8AC3E}">
        <p14:creationId xmlns:p14="http://schemas.microsoft.com/office/powerpoint/2010/main" val="5555462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9"/>
            <a:ext cx="11845636" cy="609601"/>
          </a:xfrm>
        </p:spPr>
        <p:txBody>
          <a:bodyPr>
            <a:noAutofit/>
          </a:bodyPr>
          <a:lstStyle/>
          <a:p>
            <a:pPr marL="0" indent="0">
              <a:buNone/>
            </a:pPr>
            <a:r>
              <a:rPr lang="es-CO" sz="1200" b="1" dirty="0"/>
              <a:t>Caminar (</a:t>
            </a:r>
            <a:r>
              <a:rPr lang="es-CO" sz="1200" b="1" dirty="0" err="1"/>
              <a:t>Walk</a:t>
            </a:r>
            <a:r>
              <a:rPr lang="es-CO" sz="1200" b="1" dirty="0"/>
              <a:t>)</a:t>
            </a:r>
            <a:r>
              <a:rPr lang="es-CO" sz="1200" dirty="0"/>
              <a:t>: En este estado el personaje se mueve horizontalmente mientras está en el suelo. Ocurre cuando el jugador pulsa la dirección izquierda o derecha en el control. Aquí se mostrará una animación del personaje moviendo los pies para indicar que está caminando. El personaje se desplazará en la dirección indicada a cierta velocidad.</a:t>
            </a:r>
          </a:p>
        </p:txBody>
      </p:sp>
      <p:sp>
        <p:nvSpPr>
          <p:cNvPr id="13" name="Marcador de contenido 2">
            <a:extLst>
              <a:ext uri="{FF2B5EF4-FFF2-40B4-BE49-F238E27FC236}">
                <a16:creationId xmlns:a16="http://schemas.microsoft.com/office/drawing/2014/main" id="{8B9BEE07-0609-805A-A7A1-C83C01C2EA1D}"/>
              </a:ext>
            </a:extLst>
          </p:cNvPr>
          <p:cNvSpPr txBox="1">
            <a:spLocks/>
          </p:cNvSpPr>
          <p:nvPr/>
        </p:nvSpPr>
        <p:spPr>
          <a:xfrm>
            <a:off x="180109" y="2604655"/>
            <a:ext cx="2923309" cy="388822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Condiciones para estar en este estado</a:t>
            </a:r>
            <a:r>
              <a:rPr lang="es-CO" sz="1200" dirty="0"/>
              <a:t>:</a:t>
            </a:r>
          </a:p>
          <a:p>
            <a:pPr>
              <a:buFontTx/>
              <a:buChar char="-"/>
            </a:pPr>
            <a:r>
              <a:rPr lang="es-CO" sz="1200" dirty="0"/>
              <a:t>El personaje debe estar en el suelo.</a:t>
            </a:r>
          </a:p>
          <a:p>
            <a:pPr>
              <a:buFontTx/>
              <a:buChar char="-"/>
            </a:pPr>
            <a:r>
              <a:rPr lang="es-CO" sz="1200" dirty="0"/>
              <a:t>El jugador mantiene pulsada la dirección izquierda o derecha en el control.</a:t>
            </a:r>
          </a:p>
        </p:txBody>
      </p:sp>
      <p:sp>
        <p:nvSpPr>
          <p:cNvPr id="14" name="Marcador de contenido 2">
            <a:extLst>
              <a:ext uri="{FF2B5EF4-FFF2-40B4-BE49-F238E27FC236}">
                <a16:creationId xmlns:a16="http://schemas.microsoft.com/office/drawing/2014/main" id="{166DE6B4-E7AB-EE02-D3B3-83ADB8B78E74}"/>
              </a:ext>
            </a:extLst>
          </p:cNvPr>
          <p:cNvSpPr txBox="1">
            <a:spLocks/>
          </p:cNvSpPr>
          <p:nvPr/>
        </p:nvSpPr>
        <p:spPr>
          <a:xfrm>
            <a:off x="4267200" y="2604655"/>
            <a:ext cx="2923309" cy="388822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Desde este estado se puede pasar a los siguientes estados</a:t>
            </a:r>
            <a:r>
              <a:rPr lang="es-CO" sz="1200" dirty="0"/>
              <a:t>:</a:t>
            </a:r>
          </a:p>
          <a:p>
            <a:pPr>
              <a:buFontTx/>
              <a:buChar char="-"/>
            </a:pPr>
            <a:r>
              <a:rPr lang="es-CO" sz="1200" dirty="0"/>
              <a:t>Salto (</a:t>
            </a:r>
            <a:r>
              <a:rPr lang="es-CO" sz="1200" dirty="0" err="1"/>
              <a:t>Jump</a:t>
            </a:r>
            <a:r>
              <a:rPr lang="es-CO" sz="1200" dirty="0"/>
              <a:t>)</a:t>
            </a:r>
          </a:p>
          <a:p>
            <a:pPr>
              <a:buFontTx/>
              <a:buChar char="-"/>
            </a:pPr>
            <a:r>
              <a:rPr lang="es-CO" sz="1200" dirty="0"/>
              <a:t>Reposo (Idle)</a:t>
            </a:r>
          </a:p>
          <a:p>
            <a:pPr>
              <a:buFontTx/>
              <a:buChar char="-"/>
            </a:pPr>
            <a:r>
              <a:rPr lang="es-CO" sz="1200" dirty="0"/>
              <a:t>Caer (</a:t>
            </a:r>
            <a:r>
              <a:rPr lang="es-CO" sz="1200" dirty="0" err="1"/>
              <a:t>Falling</a:t>
            </a:r>
            <a:r>
              <a:rPr lang="es-CO" sz="1200" dirty="0"/>
              <a:t>)</a:t>
            </a:r>
          </a:p>
          <a:p>
            <a:pPr>
              <a:buFontTx/>
              <a:buChar char="-"/>
            </a:pPr>
            <a:r>
              <a:rPr lang="es-CO" sz="1200" dirty="0"/>
              <a:t>Daño (</a:t>
            </a:r>
            <a:r>
              <a:rPr lang="es-CO" sz="1200" dirty="0" err="1"/>
              <a:t>Damage</a:t>
            </a:r>
            <a:r>
              <a:rPr lang="es-CO" sz="1200" dirty="0"/>
              <a:t>)</a:t>
            </a:r>
          </a:p>
        </p:txBody>
      </p:sp>
      <p:sp>
        <p:nvSpPr>
          <p:cNvPr id="15" name="Marcador de contenido 2">
            <a:extLst>
              <a:ext uri="{FF2B5EF4-FFF2-40B4-BE49-F238E27FC236}">
                <a16:creationId xmlns:a16="http://schemas.microsoft.com/office/drawing/2014/main" id="{9183BADD-5E96-EE1A-E0D1-A021780E8E2B}"/>
              </a:ext>
            </a:extLst>
          </p:cNvPr>
          <p:cNvSpPr txBox="1">
            <a:spLocks/>
          </p:cNvSpPr>
          <p:nvPr/>
        </p:nvSpPr>
        <p:spPr>
          <a:xfrm>
            <a:off x="8354291" y="2604654"/>
            <a:ext cx="3657600" cy="388822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Se llega a este estado desde los siguientes estados</a:t>
            </a:r>
            <a:r>
              <a:rPr lang="es-CO" sz="1200" dirty="0"/>
              <a:t>:</a:t>
            </a:r>
          </a:p>
          <a:p>
            <a:pPr>
              <a:buFontTx/>
              <a:buChar char="-"/>
            </a:pPr>
            <a:r>
              <a:rPr lang="es-CO" sz="1200" dirty="0"/>
              <a:t>Salto (</a:t>
            </a:r>
            <a:r>
              <a:rPr lang="es-CO" sz="1200" dirty="0" err="1"/>
              <a:t>Jump</a:t>
            </a:r>
            <a:r>
              <a:rPr lang="es-CO" sz="1200" dirty="0"/>
              <a:t>) – Si la velocidad vertical es de caída.</a:t>
            </a:r>
          </a:p>
          <a:p>
            <a:pPr>
              <a:buFontTx/>
              <a:buChar char="-"/>
            </a:pPr>
            <a:r>
              <a:rPr lang="es-CO" sz="1200" dirty="0"/>
              <a:t>Doble Salto (</a:t>
            </a:r>
            <a:r>
              <a:rPr lang="es-CO" sz="1200" dirty="0" err="1"/>
              <a:t>Double</a:t>
            </a:r>
            <a:r>
              <a:rPr lang="es-CO" sz="1200" dirty="0"/>
              <a:t> </a:t>
            </a:r>
            <a:r>
              <a:rPr lang="es-CO" sz="1200" dirty="0" err="1"/>
              <a:t>Jump</a:t>
            </a:r>
            <a:r>
              <a:rPr lang="es-CO" sz="1200" dirty="0"/>
              <a:t>) – Si la velocidad vertical es de caída.</a:t>
            </a:r>
          </a:p>
          <a:p>
            <a:pPr>
              <a:buFontTx/>
              <a:buChar char="-"/>
            </a:pPr>
            <a:r>
              <a:rPr lang="es-CO" sz="1200" dirty="0"/>
              <a:t>Salto de Pared (Wall </a:t>
            </a:r>
            <a:r>
              <a:rPr lang="es-CO" sz="1200" dirty="0" err="1"/>
              <a:t>Jump</a:t>
            </a:r>
            <a:r>
              <a:rPr lang="es-CO" sz="1200" dirty="0"/>
              <a:t>) – Si la velocidad vertical es de caída.</a:t>
            </a:r>
          </a:p>
          <a:p>
            <a:pPr>
              <a:buFontTx/>
              <a:buChar char="-"/>
            </a:pPr>
            <a:r>
              <a:rPr lang="es-CO" sz="1200" dirty="0"/>
              <a:t>Reposo (idle)</a:t>
            </a:r>
          </a:p>
          <a:p>
            <a:pPr>
              <a:buFontTx/>
              <a:buChar char="-"/>
            </a:pPr>
            <a:r>
              <a:rPr lang="es-CO" sz="1200" dirty="0"/>
              <a:t>Caer (</a:t>
            </a:r>
            <a:r>
              <a:rPr lang="es-CO" sz="1200" dirty="0" err="1"/>
              <a:t>Falling</a:t>
            </a:r>
            <a:r>
              <a:rPr lang="es-CO" sz="1200" dirty="0"/>
              <a:t>)</a:t>
            </a:r>
          </a:p>
          <a:p>
            <a:pPr>
              <a:buFontTx/>
              <a:buChar char="-"/>
            </a:pPr>
            <a:r>
              <a:rPr lang="es-CO" sz="1200" dirty="0"/>
              <a:t>Daño (</a:t>
            </a:r>
            <a:r>
              <a:rPr lang="es-CO" sz="1200" dirty="0" err="1"/>
              <a:t>Damage</a:t>
            </a:r>
            <a:r>
              <a:rPr lang="es-CO" sz="1200" dirty="0"/>
              <a:t>)</a:t>
            </a:r>
          </a:p>
          <a:p>
            <a:pPr>
              <a:buFontTx/>
              <a:buChar char="-"/>
            </a:pPr>
            <a:r>
              <a:rPr lang="es-CO" sz="1200" dirty="0"/>
              <a:t>Impulso (</a:t>
            </a:r>
            <a:r>
              <a:rPr lang="es-CO" sz="1200" dirty="0" err="1"/>
              <a:t>Dash</a:t>
            </a:r>
            <a:r>
              <a:rPr lang="es-CO" sz="1200" dirty="0"/>
              <a:t>)</a:t>
            </a:r>
          </a:p>
          <a:p>
            <a:pPr>
              <a:buFontTx/>
              <a:buChar char="-"/>
            </a:pPr>
            <a:r>
              <a:rPr lang="es-CO" sz="1200" dirty="0"/>
              <a:t>Deslizamiento en Pared (Wall </a:t>
            </a:r>
            <a:r>
              <a:rPr lang="es-CO" sz="1200" dirty="0" err="1"/>
              <a:t>Slide</a:t>
            </a:r>
            <a:r>
              <a:rPr lang="es-CO" sz="1200" dirty="0"/>
              <a:t>)</a:t>
            </a:r>
          </a:p>
        </p:txBody>
      </p:sp>
      <p:pic>
        <p:nvPicPr>
          <p:cNvPr id="6" name="Imagen 5" descr="Dibujo con letras&#10;&#10;El contenido generado por IA puede ser incorrecto.">
            <a:extLst>
              <a:ext uri="{FF2B5EF4-FFF2-40B4-BE49-F238E27FC236}">
                <a16:creationId xmlns:a16="http://schemas.microsoft.com/office/drawing/2014/main" id="{05DD0006-912D-A341-E6E0-7D13DFBFDA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81600" y="1656195"/>
            <a:ext cx="1828800" cy="609600"/>
          </a:xfrm>
          <a:prstGeom prst="rect">
            <a:avLst/>
          </a:prstGeom>
        </p:spPr>
      </p:pic>
    </p:spTree>
    <p:extLst>
      <p:ext uri="{BB962C8B-B14F-4D97-AF65-F5344CB8AC3E}">
        <p14:creationId xmlns:p14="http://schemas.microsoft.com/office/powerpoint/2010/main" val="15333813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mc:AlternateContent xmlns:mc="http://schemas.openxmlformats.org/markup-compatibility/2006">
        <mc:Choice xmlns:a14="http://schemas.microsoft.com/office/drawing/2010/main" Requires="a14">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8"/>
                <a:ext cx="11845636" cy="1568740"/>
              </a:xfrm>
            </p:spPr>
            <p:txBody>
              <a:bodyPr>
                <a:noAutofit/>
              </a:bodyPr>
              <a:lstStyle/>
              <a:p>
                <a:pPr marL="0" indent="0">
                  <a:buNone/>
                </a:pPr>
                <a:r>
                  <a:rPr lang="es-CO" sz="1200" b="1" dirty="0"/>
                  <a:t>Salto (</a:t>
                </a:r>
                <a:r>
                  <a:rPr lang="es-CO" sz="1200" b="1" dirty="0" err="1"/>
                  <a:t>Jump</a:t>
                </a:r>
                <a:r>
                  <a:rPr lang="es-CO" sz="1200" b="1" dirty="0"/>
                  <a:t>)</a:t>
                </a:r>
                <a:r>
                  <a:rPr lang="es-CO" sz="1200" dirty="0"/>
                  <a:t>: En este estado el personaje se mueve verticalmente hacia arriba si inicialmente está tocando el suelo. Ocurre cuando el jugador pulsa el botón de saltar en el control. Aquí se mostrará una animación del personaje mirando hacia arriba mientras se impulsa con los pies. El personaje se desplazará hacia arriba hasta alcanzar cierta altura mientras es jalado hacia abajo por la gravedad. Se usará la fórmula </a:t>
                </a:r>
                <a14:m>
                  <m:oMath xmlns:m="http://schemas.openxmlformats.org/officeDocument/2006/math">
                    <m:d>
                      <m:dPr>
                        <m:ctrlPr>
                          <a:rPr lang="es-CO" sz="1200" i="1" smtClean="0">
                            <a:latin typeface="Cambria Math" panose="02040503050406030204" pitchFamily="18" charset="0"/>
                          </a:rPr>
                        </m:ctrlPr>
                      </m:dPr>
                      <m:e>
                        <m:sSub>
                          <m:sSubPr>
                            <m:ctrlPr>
                              <a:rPr lang="es-CO" sz="1200" i="1">
                                <a:latin typeface="Cambria Math" panose="02040503050406030204" pitchFamily="18" charset="0"/>
                              </a:rPr>
                            </m:ctrlPr>
                          </m:sSubPr>
                          <m:e>
                            <m:r>
                              <a:rPr lang="es-CO" sz="1200" i="1">
                                <a:latin typeface="Cambria Math" panose="02040503050406030204" pitchFamily="18" charset="0"/>
                              </a:rPr>
                              <m:t>𝑣</m:t>
                            </m:r>
                          </m:e>
                          <m:sub>
                            <m:r>
                              <a:rPr lang="es-CO" sz="1200" i="1">
                                <a:latin typeface="Cambria Math" panose="02040503050406030204" pitchFamily="18" charset="0"/>
                              </a:rPr>
                              <m:t>0</m:t>
                            </m:r>
                          </m:sub>
                        </m:sSub>
                        <m:r>
                          <a:rPr lang="es-CO" sz="1200" i="1">
                            <a:latin typeface="Cambria Math" panose="02040503050406030204" pitchFamily="18" charset="0"/>
                            <a:ea typeface="Cambria Math" panose="02040503050406030204" pitchFamily="18" charset="0"/>
                          </a:rPr>
                          <m:t>=</m:t>
                        </m:r>
                        <m:rad>
                          <m:radPr>
                            <m:degHide m:val="on"/>
                            <m:ctrlPr>
                              <a:rPr lang="es-CO" sz="1200" i="1">
                                <a:latin typeface="Cambria Math" panose="02040503050406030204" pitchFamily="18" charset="0"/>
                              </a:rPr>
                            </m:ctrlPr>
                          </m:radPr>
                          <m:deg/>
                          <m:e>
                            <m:r>
                              <a:rPr lang="es-CO" sz="1200" i="1">
                                <a:latin typeface="Cambria Math" panose="02040503050406030204" pitchFamily="18" charset="0"/>
                              </a:rPr>
                              <m:t>2</m:t>
                            </m:r>
                            <m:r>
                              <a:rPr lang="es-CO" sz="1200" i="1">
                                <a:latin typeface="Cambria Math" panose="02040503050406030204" pitchFamily="18" charset="0"/>
                                <a:ea typeface="Cambria Math" panose="02040503050406030204" pitchFamily="18" charset="0"/>
                              </a:rPr>
                              <m:t>×</m:t>
                            </m:r>
                            <m:r>
                              <a:rPr lang="es-CO" sz="1200" i="1">
                                <a:latin typeface="Cambria Math" panose="02040503050406030204" pitchFamily="18" charset="0"/>
                              </a:rPr>
                              <m:t>𝑔</m:t>
                            </m:r>
                            <m:r>
                              <a:rPr lang="es-CO" sz="1200" i="1">
                                <a:latin typeface="Cambria Math" panose="02040503050406030204" pitchFamily="18" charset="0"/>
                                <a:ea typeface="Cambria Math" panose="02040503050406030204" pitchFamily="18" charset="0"/>
                              </a:rPr>
                              <m:t>×</m:t>
                            </m:r>
                            <m:r>
                              <a:rPr lang="es-CO" sz="1200" i="1">
                                <a:latin typeface="Cambria Math" panose="02040503050406030204" pitchFamily="18" charset="0"/>
                                <a:ea typeface="Cambria Math" panose="02040503050406030204" pitchFamily="18" charset="0"/>
                              </a:rPr>
                              <m:t>h</m:t>
                            </m:r>
                          </m:e>
                        </m:rad>
                      </m:e>
                    </m:d>
                  </m:oMath>
                </a14:m>
                <a:r>
                  <a:rPr lang="es-CO" sz="1200" dirty="0"/>
                  <a:t> para hallar una velocidad inicial a aplicar para alcanzar la altura h deseada cuando se aplica la gravedad g indicada. A ese valor se le suman unos pixeles mas (4) para superar un poco la altura de los obstáculos.</a:t>
                </a:r>
              </a:p>
              <a:p>
                <a:pPr marL="0" indent="0">
                  <a:buNone/>
                </a:pPr>
                <a:r>
                  <a:rPr lang="es-CO" sz="1200" dirty="0"/>
                  <a:t>Si el jugador mantiene presionado el botón de salto, el personaje alcanzará la altura máxima, pero si suelta el botón antes de llegar a ella, se reducirá la velocidad de subida a la mitad, logrando que el personaje deje de subir y empiece a car haciendo una transición suave de caída.</a:t>
                </a:r>
              </a:p>
              <a:p>
                <a:pPr marL="0" indent="0">
                  <a:buNone/>
                </a:pPr>
                <a:r>
                  <a:rPr lang="es-CO" sz="1200" dirty="0"/>
                  <a:t>Mientras se esta en el aire el personaje se puede desplazar horizontalmente en la dirección que indique el jugador con el control.</a:t>
                </a:r>
              </a:p>
            </p:txBody>
          </p:sp>
        </mc:Choice>
        <mc:Fallback>
          <p:sp>
            <p:nvSpPr>
              <p:cNvPr id="3" name="Marcador de contenido 2">
                <a:extLst>
                  <a:ext uri="{FF2B5EF4-FFF2-40B4-BE49-F238E27FC236}">
                    <a16:creationId xmlns:a16="http://schemas.microsoft.com/office/drawing/2014/main" id="{D6B029B8-96C3-7686-DF83-8FA77A263F2C}"/>
                  </a:ext>
                </a:extLst>
              </p:cNvPr>
              <p:cNvSpPr>
                <a:spLocks noGrp="1" noRot="1" noChangeAspect="1" noMove="1" noResize="1" noEditPoints="1" noAdjustHandles="1" noChangeArrowheads="1" noChangeShapeType="1" noTextEdit="1"/>
              </p:cNvSpPr>
              <p:nvPr>
                <p:ph idx="1"/>
              </p:nvPr>
            </p:nvSpPr>
            <p:spPr>
              <a:xfrm>
                <a:off x="166255" y="925078"/>
                <a:ext cx="11845636" cy="1568740"/>
              </a:xfrm>
              <a:blipFill>
                <a:blip r:embed="rId2"/>
                <a:stretch>
                  <a:fillRect t="-1556" b="-1167"/>
                </a:stretch>
              </a:blipFill>
            </p:spPr>
            <p:txBody>
              <a:bodyPr/>
              <a:lstStyle/>
              <a:p>
                <a:r>
                  <a:rPr lang="es-CO">
                    <a:noFill/>
                  </a:rPr>
                  <a:t> </a:t>
                </a:r>
              </a:p>
            </p:txBody>
          </p:sp>
        </mc:Fallback>
      </mc:AlternateContent>
      <p:sp>
        <p:nvSpPr>
          <p:cNvPr id="13" name="Marcador de contenido 2">
            <a:extLst>
              <a:ext uri="{FF2B5EF4-FFF2-40B4-BE49-F238E27FC236}">
                <a16:creationId xmlns:a16="http://schemas.microsoft.com/office/drawing/2014/main" id="{8B9BEE07-0609-805A-A7A1-C83C01C2EA1D}"/>
              </a:ext>
            </a:extLst>
          </p:cNvPr>
          <p:cNvSpPr txBox="1">
            <a:spLocks/>
          </p:cNvSpPr>
          <p:nvPr/>
        </p:nvSpPr>
        <p:spPr>
          <a:xfrm>
            <a:off x="180109" y="3137498"/>
            <a:ext cx="2923309" cy="335537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Condiciones para estar en este estado</a:t>
            </a:r>
            <a:r>
              <a:rPr lang="es-CO" sz="1200" dirty="0"/>
              <a:t>:</a:t>
            </a:r>
          </a:p>
          <a:p>
            <a:pPr>
              <a:buFontTx/>
              <a:buChar char="-"/>
            </a:pPr>
            <a:r>
              <a:rPr lang="es-CO" sz="1200" dirty="0"/>
              <a:t>El personaje debe estar en el suelo.</a:t>
            </a:r>
          </a:p>
          <a:p>
            <a:pPr>
              <a:buFontTx/>
              <a:buChar char="-"/>
            </a:pPr>
            <a:r>
              <a:rPr lang="es-CO" sz="1200" dirty="0"/>
              <a:t>El jugador pulsa el botón de salto en el control.</a:t>
            </a:r>
          </a:p>
        </p:txBody>
      </p:sp>
      <p:sp>
        <p:nvSpPr>
          <p:cNvPr id="14" name="Marcador de contenido 2">
            <a:extLst>
              <a:ext uri="{FF2B5EF4-FFF2-40B4-BE49-F238E27FC236}">
                <a16:creationId xmlns:a16="http://schemas.microsoft.com/office/drawing/2014/main" id="{166DE6B4-E7AB-EE02-D3B3-83ADB8B78E74}"/>
              </a:ext>
            </a:extLst>
          </p:cNvPr>
          <p:cNvSpPr txBox="1">
            <a:spLocks/>
          </p:cNvSpPr>
          <p:nvPr/>
        </p:nvSpPr>
        <p:spPr>
          <a:xfrm>
            <a:off x="4267200" y="3137498"/>
            <a:ext cx="2923309" cy="335537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Desde este estado se puede pasar a los siguientes estados</a:t>
            </a:r>
            <a:r>
              <a:rPr lang="es-CO" sz="1200" dirty="0"/>
              <a:t>:</a:t>
            </a:r>
          </a:p>
          <a:p>
            <a:pPr>
              <a:buFontTx/>
              <a:buChar char="-"/>
            </a:pPr>
            <a:r>
              <a:rPr lang="es-CO" sz="1200" dirty="0"/>
              <a:t>Doble Salto (</a:t>
            </a:r>
            <a:r>
              <a:rPr lang="es-CO" sz="1200" dirty="0" err="1"/>
              <a:t>Double</a:t>
            </a:r>
            <a:r>
              <a:rPr lang="es-CO" sz="1200" dirty="0"/>
              <a:t> </a:t>
            </a:r>
            <a:r>
              <a:rPr lang="es-CO" sz="1200" dirty="0" err="1"/>
              <a:t>Jump</a:t>
            </a:r>
            <a:r>
              <a:rPr lang="es-CO" sz="1200" dirty="0"/>
              <a:t>)</a:t>
            </a:r>
          </a:p>
          <a:p>
            <a:pPr>
              <a:buFontTx/>
              <a:buChar char="-"/>
            </a:pPr>
            <a:r>
              <a:rPr lang="es-CO" sz="1200" dirty="0"/>
              <a:t>Salto de Pared (Wall </a:t>
            </a:r>
            <a:r>
              <a:rPr lang="es-CO" sz="1200" dirty="0" err="1"/>
              <a:t>Jump</a:t>
            </a:r>
            <a:r>
              <a:rPr lang="es-CO" sz="1200" dirty="0"/>
              <a:t>)</a:t>
            </a:r>
          </a:p>
          <a:p>
            <a:pPr>
              <a:buFontTx/>
              <a:buChar char="-"/>
            </a:pPr>
            <a:r>
              <a:rPr lang="es-CO" sz="1200" dirty="0"/>
              <a:t>Reposo (Idle) – Si la velocidad vertical es de caída.</a:t>
            </a:r>
          </a:p>
          <a:p>
            <a:pPr>
              <a:buFontTx/>
              <a:buChar char="-"/>
            </a:pPr>
            <a:r>
              <a:rPr lang="es-CO" sz="1200" dirty="0"/>
              <a:t>Caminar (</a:t>
            </a:r>
            <a:r>
              <a:rPr lang="es-CO" sz="1200" dirty="0" err="1"/>
              <a:t>Walk</a:t>
            </a:r>
            <a:r>
              <a:rPr lang="es-CO" sz="1200" dirty="0"/>
              <a:t>) – Si la velocidad vertical es de caída.</a:t>
            </a:r>
          </a:p>
          <a:p>
            <a:pPr>
              <a:buFontTx/>
              <a:buChar char="-"/>
            </a:pPr>
            <a:r>
              <a:rPr lang="es-CO" sz="1200" dirty="0"/>
              <a:t>Caer (</a:t>
            </a:r>
            <a:r>
              <a:rPr lang="es-CO" sz="1200" dirty="0" err="1"/>
              <a:t>Falling</a:t>
            </a:r>
            <a:r>
              <a:rPr lang="es-CO" sz="1200" dirty="0"/>
              <a:t>)</a:t>
            </a:r>
          </a:p>
          <a:p>
            <a:pPr>
              <a:buFontTx/>
              <a:buChar char="-"/>
            </a:pPr>
            <a:r>
              <a:rPr lang="es-CO" sz="1200" dirty="0"/>
              <a:t>Daño (</a:t>
            </a:r>
            <a:r>
              <a:rPr lang="es-CO" sz="1200" dirty="0" err="1"/>
              <a:t>Damage</a:t>
            </a:r>
            <a:r>
              <a:rPr lang="es-CO" sz="1200" dirty="0"/>
              <a:t>)</a:t>
            </a:r>
          </a:p>
          <a:p>
            <a:pPr>
              <a:buFontTx/>
              <a:buChar char="-"/>
            </a:pPr>
            <a:r>
              <a:rPr lang="es-CO" sz="1200" dirty="0"/>
              <a:t>Impulso (</a:t>
            </a:r>
            <a:r>
              <a:rPr lang="es-CO" sz="1200" dirty="0" err="1"/>
              <a:t>Dash</a:t>
            </a:r>
            <a:r>
              <a:rPr lang="es-CO" sz="1200" dirty="0"/>
              <a:t>)</a:t>
            </a:r>
          </a:p>
        </p:txBody>
      </p:sp>
      <p:sp>
        <p:nvSpPr>
          <p:cNvPr id="15" name="Marcador de contenido 2">
            <a:extLst>
              <a:ext uri="{FF2B5EF4-FFF2-40B4-BE49-F238E27FC236}">
                <a16:creationId xmlns:a16="http://schemas.microsoft.com/office/drawing/2014/main" id="{9183BADD-5E96-EE1A-E0D1-A021780E8E2B}"/>
              </a:ext>
            </a:extLst>
          </p:cNvPr>
          <p:cNvSpPr txBox="1">
            <a:spLocks/>
          </p:cNvSpPr>
          <p:nvPr/>
        </p:nvSpPr>
        <p:spPr>
          <a:xfrm>
            <a:off x="8354291" y="3137497"/>
            <a:ext cx="3657600" cy="335537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Se llega a este estado desde los siguientes estados</a:t>
            </a:r>
            <a:r>
              <a:rPr lang="es-CO" sz="1200" dirty="0"/>
              <a:t>:</a:t>
            </a:r>
          </a:p>
          <a:p>
            <a:pPr>
              <a:buFontTx/>
              <a:buChar char="-"/>
            </a:pPr>
            <a:r>
              <a:rPr lang="es-CO" sz="1200" dirty="0"/>
              <a:t>Reposo (Idle)</a:t>
            </a:r>
          </a:p>
          <a:p>
            <a:pPr>
              <a:buFontTx/>
              <a:buChar char="-"/>
            </a:pPr>
            <a:r>
              <a:rPr lang="es-CO" sz="1200" dirty="0"/>
              <a:t>Caminar (</a:t>
            </a:r>
            <a:r>
              <a:rPr lang="es-CO" sz="1200" dirty="0" err="1"/>
              <a:t>Walk</a:t>
            </a:r>
            <a:r>
              <a:rPr lang="es-CO" sz="1200" dirty="0"/>
              <a:t>) </a:t>
            </a:r>
          </a:p>
          <a:p>
            <a:pPr>
              <a:buFontTx/>
              <a:buChar char="-"/>
            </a:pPr>
            <a:r>
              <a:rPr lang="es-CO" sz="1200" dirty="0"/>
              <a:t>Impulso (</a:t>
            </a:r>
            <a:r>
              <a:rPr lang="es-CO" sz="1200" dirty="0" err="1"/>
              <a:t>Dash</a:t>
            </a:r>
            <a:r>
              <a:rPr lang="es-CO" sz="1200" dirty="0"/>
              <a:t>)</a:t>
            </a:r>
          </a:p>
        </p:txBody>
      </p:sp>
      <p:pic>
        <p:nvPicPr>
          <p:cNvPr id="5" name="Imagen 4">
            <a:extLst>
              <a:ext uri="{FF2B5EF4-FFF2-40B4-BE49-F238E27FC236}">
                <a16:creationId xmlns:a16="http://schemas.microsoft.com/office/drawing/2014/main" id="{15DD89CD-1991-486B-B441-86F11A6EBD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9200" y="2663258"/>
            <a:ext cx="2133600" cy="304800"/>
          </a:xfrm>
          <a:prstGeom prst="rect">
            <a:avLst/>
          </a:prstGeom>
        </p:spPr>
      </p:pic>
    </p:spTree>
    <p:extLst>
      <p:ext uri="{BB962C8B-B14F-4D97-AF65-F5344CB8AC3E}">
        <p14:creationId xmlns:p14="http://schemas.microsoft.com/office/powerpoint/2010/main" val="19391097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mc:AlternateContent xmlns:mc="http://schemas.openxmlformats.org/markup-compatibility/2006">
        <mc:Choice xmlns:a14="http://schemas.microsoft.com/office/drawing/2010/main" Requires="a14">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7"/>
                <a:ext cx="11845636" cy="1738181"/>
              </a:xfrm>
            </p:spPr>
            <p:txBody>
              <a:bodyPr>
                <a:noAutofit/>
              </a:bodyPr>
              <a:lstStyle/>
              <a:p>
                <a:pPr marL="0" indent="0">
                  <a:buNone/>
                </a:pPr>
                <a:r>
                  <a:rPr lang="es-CO" sz="1200" b="1" dirty="0"/>
                  <a:t>Doble Salto (</a:t>
                </a:r>
                <a:r>
                  <a:rPr lang="es-CO" sz="1200" b="1" dirty="0" err="1"/>
                  <a:t>Double</a:t>
                </a:r>
                <a:r>
                  <a:rPr lang="es-CO" sz="1200" b="1" dirty="0"/>
                  <a:t> </a:t>
                </a:r>
                <a:r>
                  <a:rPr lang="es-CO" sz="1200" b="1" dirty="0" err="1"/>
                  <a:t>Jump</a:t>
                </a:r>
                <a:r>
                  <a:rPr lang="es-CO" sz="1200" b="1" dirty="0"/>
                  <a:t>)</a:t>
                </a:r>
                <a:r>
                  <a:rPr lang="es-CO" sz="1200" dirty="0"/>
                  <a:t>: En este estado el personaje se mueve verticalmente hacia arriba si está en el aire, ha adquirido esta habilidad y no ha realizado ya el doble salto. Ocurre cuando el jugador pulsa el botón de saltar en el control. Aquí se mostrará una animación del personaje mirando hacia arriba mientras se impulsa con los pies. El personaje se desplazará hacia arriba hasta alcanzar cierta altura mientras es jalado hacia abajo por la gravedad. Se usará la fórmula </a:t>
                </a:r>
                <a14:m>
                  <m:oMath xmlns:m="http://schemas.openxmlformats.org/officeDocument/2006/math">
                    <m:d>
                      <m:dPr>
                        <m:ctrlPr>
                          <a:rPr lang="es-CO" sz="1200" i="1" smtClean="0">
                            <a:latin typeface="Cambria Math" panose="02040503050406030204" pitchFamily="18" charset="0"/>
                          </a:rPr>
                        </m:ctrlPr>
                      </m:dPr>
                      <m:e>
                        <m:sSub>
                          <m:sSubPr>
                            <m:ctrlPr>
                              <a:rPr lang="es-CO" sz="1200" i="1">
                                <a:latin typeface="Cambria Math" panose="02040503050406030204" pitchFamily="18" charset="0"/>
                              </a:rPr>
                            </m:ctrlPr>
                          </m:sSubPr>
                          <m:e>
                            <m:r>
                              <a:rPr lang="es-CO" sz="1200" i="1">
                                <a:latin typeface="Cambria Math" panose="02040503050406030204" pitchFamily="18" charset="0"/>
                              </a:rPr>
                              <m:t>𝑣</m:t>
                            </m:r>
                          </m:e>
                          <m:sub>
                            <m:r>
                              <a:rPr lang="es-CO" sz="1200" i="1">
                                <a:latin typeface="Cambria Math" panose="02040503050406030204" pitchFamily="18" charset="0"/>
                              </a:rPr>
                              <m:t>0</m:t>
                            </m:r>
                          </m:sub>
                        </m:sSub>
                        <m:r>
                          <a:rPr lang="es-CO" sz="1200" i="1">
                            <a:latin typeface="Cambria Math" panose="02040503050406030204" pitchFamily="18" charset="0"/>
                            <a:ea typeface="Cambria Math" panose="02040503050406030204" pitchFamily="18" charset="0"/>
                          </a:rPr>
                          <m:t>=</m:t>
                        </m:r>
                        <m:rad>
                          <m:radPr>
                            <m:degHide m:val="on"/>
                            <m:ctrlPr>
                              <a:rPr lang="es-CO" sz="1200" i="1">
                                <a:latin typeface="Cambria Math" panose="02040503050406030204" pitchFamily="18" charset="0"/>
                              </a:rPr>
                            </m:ctrlPr>
                          </m:radPr>
                          <m:deg/>
                          <m:e>
                            <m:r>
                              <a:rPr lang="es-CO" sz="1200" i="1">
                                <a:latin typeface="Cambria Math" panose="02040503050406030204" pitchFamily="18" charset="0"/>
                              </a:rPr>
                              <m:t>2</m:t>
                            </m:r>
                            <m:r>
                              <a:rPr lang="es-CO" sz="1200" i="1">
                                <a:latin typeface="Cambria Math" panose="02040503050406030204" pitchFamily="18" charset="0"/>
                                <a:ea typeface="Cambria Math" panose="02040503050406030204" pitchFamily="18" charset="0"/>
                              </a:rPr>
                              <m:t>×</m:t>
                            </m:r>
                            <m:r>
                              <a:rPr lang="es-CO" sz="1200" i="1">
                                <a:latin typeface="Cambria Math" panose="02040503050406030204" pitchFamily="18" charset="0"/>
                              </a:rPr>
                              <m:t>𝑔</m:t>
                            </m:r>
                            <m:r>
                              <a:rPr lang="es-CO" sz="1200" i="1">
                                <a:latin typeface="Cambria Math" panose="02040503050406030204" pitchFamily="18" charset="0"/>
                                <a:ea typeface="Cambria Math" panose="02040503050406030204" pitchFamily="18" charset="0"/>
                              </a:rPr>
                              <m:t>×</m:t>
                            </m:r>
                            <m:r>
                              <a:rPr lang="es-CO" sz="1200" i="1">
                                <a:latin typeface="Cambria Math" panose="02040503050406030204" pitchFamily="18" charset="0"/>
                                <a:ea typeface="Cambria Math" panose="02040503050406030204" pitchFamily="18" charset="0"/>
                              </a:rPr>
                              <m:t>h</m:t>
                            </m:r>
                          </m:e>
                        </m:rad>
                      </m:e>
                    </m:d>
                  </m:oMath>
                </a14:m>
                <a:r>
                  <a:rPr lang="es-CO" sz="1200" dirty="0"/>
                  <a:t> para hallar una velocidad inicial a aplicar para alcanzar la altura h deseada cuando se aplica la gravedad g indicada. A ese valor se le suman unos pixeles mas (4) para superar un poco la altura de los obstáculos.</a:t>
                </a:r>
              </a:p>
              <a:p>
                <a:pPr marL="0" indent="0">
                  <a:buNone/>
                </a:pPr>
                <a:r>
                  <a:rPr lang="es-CO" sz="1200" dirty="0"/>
                  <a:t>Si el jugador mantiene presionado el botón de salto, el personaje alcanzará la altura máxima, pero si suelta el botón antes de llegar a ella, se reducirá la velocidad de subida a la mitad, logrando que el personaje deje de subir y empiece a car haciendo una transición suave de caída.</a:t>
                </a:r>
              </a:p>
              <a:p>
                <a:pPr marL="0" indent="0">
                  <a:buNone/>
                </a:pPr>
                <a:r>
                  <a:rPr lang="es-CO" sz="1200" dirty="0"/>
                  <a:t>Mientras se esta en el aire el personaje se puede desplazar horizontalmente en la dirección que indique el jugador con el control.</a:t>
                </a:r>
              </a:p>
            </p:txBody>
          </p:sp>
        </mc:Choice>
        <mc:Fallback>
          <p:sp>
            <p:nvSpPr>
              <p:cNvPr id="3" name="Marcador de contenido 2">
                <a:extLst>
                  <a:ext uri="{FF2B5EF4-FFF2-40B4-BE49-F238E27FC236}">
                    <a16:creationId xmlns:a16="http://schemas.microsoft.com/office/drawing/2014/main" id="{D6B029B8-96C3-7686-DF83-8FA77A263F2C}"/>
                  </a:ext>
                </a:extLst>
              </p:cNvPr>
              <p:cNvSpPr>
                <a:spLocks noGrp="1" noRot="1" noChangeAspect="1" noMove="1" noResize="1" noEditPoints="1" noAdjustHandles="1" noChangeArrowheads="1" noChangeShapeType="1" noTextEdit="1"/>
              </p:cNvSpPr>
              <p:nvPr>
                <p:ph idx="1"/>
              </p:nvPr>
            </p:nvSpPr>
            <p:spPr>
              <a:xfrm>
                <a:off x="166255" y="925077"/>
                <a:ext cx="11845636" cy="1738181"/>
              </a:xfrm>
              <a:blipFill>
                <a:blip r:embed="rId2"/>
                <a:stretch>
                  <a:fillRect t="-1404" b="-702"/>
                </a:stretch>
              </a:blipFill>
            </p:spPr>
            <p:txBody>
              <a:bodyPr/>
              <a:lstStyle/>
              <a:p>
                <a:r>
                  <a:rPr lang="es-CO">
                    <a:noFill/>
                  </a:rPr>
                  <a:t> </a:t>
                </a:r>
              </a:p>
            </p:txBody>
          </p:sp>
        </mc:Fallback>
      </mc:AlternateContent>
      <p:sp>
        <p:nvSpPr>
          <p:cNvPr id="13" name="Marcador de contenido 2">
            <a:extLst>
              <a:ext uri="{FF2B5EF4-FFF2-40B4-BE49-F238E27FC236}">
                <a16:creationId xmlns:a16="http://schemas.microsoft.com/office/drawing/2014/main" id="{8B9BEE07-0609-805A-A7A1-C83C01C2EA1D}"/>
              </a:ext>
            </a:extLst>
          </p:cNvPr>
          <p:cNvSpPr txBox="1">
            <a:spLocks/>
          </p:cNvSpPr>
          <p:nvPr/>
        </p:nvSpPr>
        <p:spPr>
          <a:xfrm>
            <a:off x="180109" y="3211084"/>
            <a:ext cx="2923309" cy="328179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Condiciones para estar en este estado</a:t>
            </a:r>
            <a:r>
              <a:rPr lang="es-CO" sz="1200" dirty="0"/>
              <a:t>:</a:t>
            </a:r>
          </a:p>
          <a:p>
            <a:pPr>
              <a:buFontTx/>
              <a:buChar char="-"/>
            </a:pPr>
            <a:r>
              <a:rPr lang="es-CO" sz="1200" dirty="0"/>
              <a:t>El personaje debe estar en el aire.</a:t>
            </a:r>
          </a:p>
          <a:p>
            <a:pPr>
              <a:buFontTx/>
              <a:buChar char="-"/>
            </a:pPr>
            <a:r>
              <a:rPr lang="es-CO" sz="1200" dirty="0"/>
              <a:t>El jugador pulsa el botón de salto en el control.</a:t>
            </a:r>
          </a:p>
          <a:p>
            <a:pPr>
              <a:buFontTx/>
              <a:buChar char="-"/>
            </a:pPr>
            <a:r>
              <a:rPr lang="es-CO" sz="1200" dirty="0"/>
              <a:t>El personaje ha adquirido esta habilidad.</a:t>
            </a:r>
          </a:p>
          <a:p>
            <a:pPr>
              <a:buFontTx/>
              <a:buChar char="-"/>
            </a:pPr>
            <a:r>
              <a:rPr lang="es-CO" sz="1200" dirty="0"/>
              <a:t>No se ha realizado antes un doble salto.</a:t>
            </a:r>
          </a:p>
        </p:txBody>
      </p:sp>
      <p:sp>
        <p:nvSpPr>
          <p:cNvPr id="14" name="Marcador de contenido 2">
            <a:extLst>
              <a:ext uri="{FF2B5EF4-FFF2-40B4-BE49-F238E27FC236}">
                <a16:creationId xmlns:a16="http://schemas.microsoft.com/office/drawing/2014/main" id="{166DE6B4-E7AB-EE02-D3B3-83ADB8B78E74}"/>
              </a:ext>
            </a:extLst>
          </p:cNvPr>
          <p:cNvSpPr txBox="1">
            <a:spLocks/>
          </p:cNvSpPr>
          <p:nvPr/>
        </p:nvSpPr>
        <p:spPr>
          <a:xfrm>
            <a:off x="4267200" y="3211084"/>
            <a:ext cx="2923309" cy="328179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Desde este estado se puede pasar a los siguientes estados</a:t>
            </a:r>
            <a:r>
              <a:rPr lang="es-CO" sz="1200" dirty="0"/>
              <a:t>:</a:t>
            </a:r>
          </a:p>
          <a:p>
            <a:pPr>
              <a:buFontTx/>
              <a:buChar char="-"/>
            </a:pPr>
            <a:r>
              <a:rPr lang="es-CO" sz="1200" dirty="0"/>
              <a:t>Salto de Pared (Wall </a:t>
            </a:r>
            <a:r>
              <a:rPr lang="es-CO" sz="1200" dirty="0" err="1"/>
              <a:t>Jump</a:t>
            </a:r>
            <a:r>
              <a:rPr lang="es-CO" sz="1200" dirty="0"/>
              <a:t>)</a:t>
            </a:r>
          </a:p>
          <a:p>
            <a:pPr>
              <a:buFontTx/>
              <a:buChar char="-"/>
            </a:pPr>
            <a:r>
              <a:rPr lang="es-CO" sz="1200" dirty="0"/>
              <a:t>Reposo (Idle) – Si la velocidad vertical es de caída.</a:t>
            </a:r>
          </a:p>
          <a:p>
            <a:pPr>
              <a:buFontTx/>
              <a:buChar char="-"/>
            </a:pPr>
            <a:r>
              <a:rPr lang="es-CO" sz="1200" dirty="0"/>
              <a:t>Caminar (</a:t>
            </a:r>
            <a:r>
              <a:rPr lang="es-CO" sz="1200" dirty="0" err="1"/>
              <a:t>Walk</a:t>
            </a:r>
            <a:r>
              <a:rPr lang="es-CO" sz="1200" dirty="0"/>
              <a:t>) – Si la velocidad vertical es de caída.</a:t>
            </a:r>
          </a:p>
          <a:p>
            <a:pPr>
              <a:buFontTx/>
              <a:buChar char="-"/>
            </a:pPr>
            <a:r>
              <a:rPr lang="es-CO" sz="1200" dirty="0"/>
              <a:t>Caer (</a:t>
            </a:r>
            <a:r>
              <a:rPr lang="es-CO" sz="1200" dirty="0" err="1"/>
              <a:t>Falling</a:t>
            </a:r>
            <a:r>
              <a:rPr lang="es-CO" sz="1200" dirty="0"/>
              <a:t>)</a:t>
            </a:r>
          </a:p>
          <a:p>
            <a:pPr>
              <a:buFontTx/>
              <a:buChar char="-"/>
            </a:pPr>
            <a:r>
              <a:rPr lang="es-CO" sz="1200" dirty="0"/>
              <a:t>Daño (</a:t>
            </a:r>
            <a:r>
              <a:rPr lang="es-CO" sz="1200" dirty="0" err="1"/>
              <a:t>Damage</a:t>
            </a:r>
            <a:r>
              <a:rPr lang="es-CO" sz="1200" dirty="0"/>
              <a:t>)</a:t>
            </a:r>
          </a:p>
          <a:p>
            <a:pPr>
              <a:buFontTx/>
              <a:buChar char="-"/>
            </a:pPr>
            <a:r>
              <a:rPr lang="es-CO" sz="1200" dirty="0"/>
              <a:t>Impulso (</a:t>
            </a:r>
            <a:r>
              <a:rPr lang="es-CO" sz="1200" dirty="0" err="1"/>
              <a:t>Dash</a:t>
            </a:r>
            <a:r>
              <a:rPr lang="es-CO" sz="1200" dirty="0"/>
              <a:t>)</a:t>
            </a:r>
          </a:p>
        </p:txBody>
      </p:sp>
      <p:sp>
        <p:nvSpPr>
          <p:cNvPr id="15" name="Marcador de contenido 2">
            <a:extLst>
              <a:ext uri="{FF2B5EF4-FFF2-40B4-BE49-F238E27FC236}">
                <a16:creationId xmlns:a16="http://schemas.microsoft.com/office/drawing/2014/main" id="{9183BADD-5E96-EE1A-E0D1-A021780E8E2B}"/>
              </a:ext>
            </a:extLst>
          </p:cNvPr>
          <p:cNvSpPr txBox="1">
            <a:spLocks/>
          </p:cNvSpPr>
          <p:nvPr/>
        </p:nvSpPr>
        <p:spPr>
          <a:xfrm>
            <a:off x="8354291" y="3211083"/>
            <a:ext cx="3657600" cy="328179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Se llega a este estado desde los siguientes estados</a:t>
            </a:r>
            <a:r>
              <a:rPr lang="es-CO" sz="1200" dirty="0"/>
              <a:t>:</a:t>
            </a:r>
          </a:p>
          <a:p>
            <a:pPr>
              <a:buFontTx/>
              <a:buChar char="-"/>
            </a:pPr>
            <a:r>
              <a:rPr lang="es-CO" sz="1200" dirty="0"/>
              <a:t>Salto (</a:t>
            </a:r>
            <a:r>
              <a:rPr lang="es-CO" sz="1200" dirty="0" err="1"/>
              <a:t>Jump</a:t>
            </a:r>
            <a:r>
              <a:rPr lang="es-CO" sz="1200" dirty="0"/>
              <a:t>)</a:t>
            </a:r>
          </a:p>
          <a:p>
            <a:pPr>
              <a:buFontTx/>
              <a:buChar char="-"/>
            </a:pPr>
            <a:r>
              <a:rPr lang="es-CO" sz="1200" dirty="0"/>
              <a:t>Salto de Pared (Wall </a:t>
            </a:r>
            <a:r>
              <a:rPr lang="es-CO" sz="1200" dirty="0" err="1"/>
              <a:t>Jump</a:t>
            </a:r>
            <a:r>
              <a:rPr lang="es-CO" sz="1200" dirty="0"/>
              <a:t>)</a:t>
            </a:r>
          </a:p>
          <a:p>
            <a:pPr>
              <a:buFontTx/>
              <a:buChar char="-"/>
            </a:pPr>
            <a:r>
              <a:rPr lang="es-CO" sz="1200" dirty="0"/>
              <a:t>Caer (</a:t>
            </a:r>
            <a:r>
              <a:rPr lang="es-CO" sz="1200" dirty="0" err="1"/>
              <a:t>Falling</a:t>
            </a:r>
            <a:r>
              <a:rPr lang="es-CO" sz="1200" dirty="0"/>
              <a:t>)</a:t>
            </a:r>
          </a:p>
          <a:p>
            <a:pPr>
              <a:buFontTx/>
              <a:buChar char="-"/>
            </a:pPr>
            <a:r>
              <a:rPr lang="es-CO" sz="1200" dirty="0"/>
              <a:t>Impulso (</a:t>
            </a:r>
            <a:r>
              <a:rPr lang="es-CO" sz="1200" dirty="0" err="1"/>
              <a:t>Dash</a:t>
            </a:r>
            <a:r>
              <a:rPr lang="es-CO" sz="1200" dirty="0"/>
              <a:t>)</a:t>
            </a:r>
          </a:p>
        </p:txBody>
      </p:sp>
      <p:pic>
        <p:nvPicPr>
          <p:cNvPr id="5" name="Imagen 4">
            <a:extLst>
              <a:ext uri="{FF2B5EF4-FFF2-40B4-BE49-F238E27FC236}">
                <a16:creationId xmlns:a16="http://schemas.microsoft.com/office/drawing/2014/main" id="{15DD89CD-1991-486B-B441-86F11A6EBD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9200" y="2784771"/>
            <a:ext cx="2133600" cy="304800"/>
          </a:xfrm>
          <a:prstGeom prst="rect">
            <a:avLst/>
          </a:prstGeom>
        </p:spPr>
      </p:pic>
    </p:spTree>
    <p:extLst>
      <p:ext uri="{BB962C8B-B14F-4D97-AF65-F5344CB8AC3E}">
        <p14:creationId xmlns:p14="http://schemas.microsoft.com/office/powerpoint/2010/main" val="39454482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mc:AlternateContent xmlns:mc="http://schemas.openxmlformats.org/markup-compatibility/2006">
        <mc:Choice xmlns:a14="http://schemas.microsoft.com/office/drawing/2010/main" Requires="a14">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7"/>
                <a:ext cx="11845636" cy="1738181"/>
              </a:xfrm>
            </p:spPr>
            <p:txBody>
              <a:bodyPr>
                <a:noAutofit/>
              </a:bodyPr>
              <a:lstStyle/>
              <a:p>
                <a:pPr marL="0" indent="0">
                  <a:buNone/>
                </a:pPr>
                <a:r>
                  <a:rPr lang="es-CO" sz="1200" b="1" dirty="0"/>
                  <a:t>Salto de Pared (Wall </a:t>
                </a:r>
                <a:r>
                  <a:rPr lang="es-CO" sz="1200" b="1" dirty="0" err="1"/>
                  <a:t>Jump</a:t>
                </a:r>
                <a:r>
                  <a:rPr lang="es-CO" sz="1200" b="1" dirty="0"/>
                  <a:t>)</a:t>
                </a:r>
                <a:r>
                  <a:rPr lang="es-CO" sz="1200" dirty="0"/>
                  <a:t>: En este estado el personaje se mueve verticalmente hacia arriba si está en el aire y pegado a una pared, y ha adquirido esta habilidad. Ocurre cuando el personaje está en el aire pegado a una pared, el jugador pulsa en el control el botón de saltar y la dirección derecha o izquierda hacia la pared. Aquí se mostrará una animación del personaje mirando hacia arriba mientras se impulsa con los pies. El personaje se desplazará hacia arriba hasta alcanzar cierta altura mientras es jalado hacia abajo por la gravedad. Se usará la fórmula </a:t>
                </a:r>
                <a14:m>
                  <m:oMath xmlns:m="http://schemas.openxmlformats.org/officeDocument/2006/math">
                    <m:d>
                      <m:dPr>
                        <m:ctrlPr>
                          <a:rPr lang="es-CO" sz="1200" i="1" smtClean="0">
                            <a:latin typeface="Cambria Math" panose="02040503050406030204" pitchFamily="18" charset="0"/>
                          </a:rPr>
                        </m:ctrlPr>
                      </m:dPr>
                      <m:e>
                        <m:sSub>
                          <m:sSubPr>
                            <m:ctrlPr>
                              <a:rPr lang="es-CO" sz="1200" i="1">
                                <a:latin typeface="Cambria Math" panose="02040503050406030204" pitchFamily="18" charset="0"/>
                              </a:rPr>
                            </m:ctrlPr>
                          </m:sSubPr>
                          <m:e>
                            <m:r>
                              <a:rPr lang="es-CO" sz="1200" i="1">
                                <a:latin typeface="Cambria Math" panose="02040503050406030204" pitchFamily="18" charset="0"/>
                              </a:rPr>
                              <m:t>𝑣</m:t>
                            </m:r>
                          </m:e>
                          <m:sub>
                            <m:r>
                              <a:rPr lang="es-CO" sz="1200" i="1">
                                <a:latin typeface="Cambria Math" panose="02040503050406030204" pitchFamily="18" charset="0"/>
                              </a:rPr>
                              <m:t>0</m:t>
                            </m:r>
                          </m:sub>
                        </m:sSub>
                        <m:r>
                          <a:rPr lang="es-CO" sz="1200" i="1">
                            <a:latin typeface="Cambria Math" panose="02040503050406030204" pitchFamily="18" charset="0"/>
                            <a:ea typeface="Cambria Math" panose="02040503050406030204" pitchFamily="18" charset="0"/>
                          </a:rPr>
                          <m:t>=</m:t>
                        </m:r>
                        <m:rad>
                          <m:radPr>
                            <m:degHide m:val="on"/>
                            <m:ctrlPr>
                              <a:rPr lang="es-CO" sz="1200" i="1">
                                <a:latin typeface="Cambria Math" panose="02040503050406030204" pitchFamily="18" charset="0"/>
                              </a:rPr>
                            </m:ctrlPr>
                          </m:radPr>
                          <m:deg/>
                          <m:e>
                            <m:r>
                              <a:rPr lang="es-CO" sz="1200" i="1">
                                <a:latin typeface="Cambria Math" panose="02040503050406030204" pitchFamily="18" charset="0"/>
                              </a:rPr>
                              <m:t>2</m:t>
                            </m:r>
                            <m:r>
                              <a:rPr lang="es-CO" sz="1200" i="1">
                                <a:latin typeface="Cambria Math" panose="02040503050406030204" pitchFamily="18" charset="0"/>
                                <a:ea typeface="Cambria Math" panose="02040503050406030204" pitchFamily="18" charset="0"/>
                              </a:rPr>
                              <m:t>×</m:t>
                            </m:r>
                            <m:r>
                              <a:rPr lang="es-CO" sz="1200" i="1">
                                <a:latin typeface="Cambria Math" panose="02040503050406030204" pitchFamily="18" charset="0"/>
                              </a:rPr>
                              <m:t>𝑔</m:t>
                            </m:r>
                            <m:r>
                              <a:rPr lang="es-CO" sz="1200" i="1">
                                <a:latin typeface="Cambria Math" panose="02040503050406030204" pitchFamily="18" charset="0"/>
                                <a:ea typeface="Cambria Math" panose="02040503050406030204" pitchFamily="18" charset="0"/>
                              </a:rPr>
                              <m:t>×</m:t>
                            </m:r>
                            <m:r>
                              <a:rPr lang="es-CO" sz="1200" i="1">
                                <a:latin typeface="Cambria Math" panose="02040503050406030204" pitchFamily="18" charset="0"/>
                                <a:ea typeface="Cambria Math" panose="02040503050406030204" pitchFamily="18" charset="0"/>
                              </a:rPr>
                              <m:t>h</m:t>
                            </m:r>
                          </m:e>
                        </m:rad>
                      </m:e>
                    </m:d>
                  </m:oMath>
                </a14:m>
                <a:r>
                  <a:rPr lang="es-CO" sz="1200" dirty="0"/>
                  <a:t> para hallar una velocidad inicial a aplicar para alcanzar la altura h deseada cuando se aplica la gravedad g indicada. A ese valor se le suman unos pixeles mas (4) para superar un poco la altura de los obstáculos.</a:t>
                </a:r>
              </a:p>
              <a:p>
                <a:pPr marL="0" indent="0">
                  <a:buNone/>
                </a:pPr>
                <a:r>
                  <a:rPr lang="es-CO" sz="1200" dirty="0"/>
                  <a:t>Si el jugador mantiene presionado el botón de salto, el personaje alcanzará la altura máxima, pero si suelta el botón antes de llegar a ella, se reducirá la velocidad de subida a la mitad, logrando que el personaje deje de subir y empiece a car haciendo una transición suave de caída.</a:t>
                </a:r>
              </a:p>
              <a:p>
                <a:pPr marL="0" indent="0">
                  <a:buNone/>
                </a:pPr>
                <a:r>
                  <a:rPr lang="es-CO" sz="1200" dirty="0"/>
                  <a:t>Mientras se esta en el aire el personaje se puede desplazar horizontalmente en la dirección que indique el jugador con el control.</a:t>
                </a:r>
              </a:p>
            </p:txBody>
          </p:sp>
        </mc:Choice>
        <mc:Fallback>
          <p:sp>
            <p:nvSpPr>
              <p:cNvPr id="3" name="Marcador de contenido 2">
                <a:extLst>
                  <a:ext uri="{FF2B5EF4-FFF2-40B4-BE49-F238E27FC236}">
                    <a16:creationId xmlns:a16="http://schemas.microsoft.com/office/drawing/2014/main" id="{D6B029B8-96C3-7686-DF83-8FA77A263F2C}"/>
                  </a:ext>
                </a:extLst>
              </p:cNvPr>
              <p:cNvSpPr>
                <a:spLocks noGrp="1" noRot="1" noChangeAspect="1" noMove="1" noResize="1" noEditPoints="1" noAdjustHandles="1" noChangeArrowheads="1" noChangeShapeType="1" noTextEdit="1"/>
              </p:cNvSpPr>
              <p:nvPr>
                <p:ph idx="1"/>
              </p:nvPr>
            </p:nvSpPr>
            <p:spPr>
              <a:xfrm>
                <a:off x="166255" y="925077"/>
                <a:ext cx="11845636" cy="1738181"/>
              </a:xfrm>
              <a:blipFill>
                <a:blip r:embed="rId2"/>
                <a:stretch>
                  <a:fillRect t="-1404" b="-702"/>
                </a:stretch>
              </a:blipFill>
            </p:spPr>
            <p:txBody>
              <a:bodyPr/>
              <a:lstStyle/>
              <a:p>
                <a:r>
                  <a:rPr lang="es-CO">
                    <a:noFill/>
                  </a:rPr>
                  <a:t> </a:t>
                </a:r>
              </a:p>
            </p:txBody>
          </p:sp>
        </mc:Fallback>
      </mc:AlternateContent>
      <p:sp>
        <p:nvSpPr>
          <p:cNvPr id="13" name="Marcador de contenido 2">
            <a:extLst>
              <a:ext uri="{FF2B5EF4-FFF2-40B4-BE49-F238E27FC236}">
                <a16:creationId xmlns:a16="http://schemas.microsoft.com/office/drawing/2014/main" id="{8B9BEE07-0609-805A-A7A1-C83C01C2EA1D}"/>
              </a:ext>
            </a:extLst>
          </p:cNvPr>
          <p:cNvSpPr txBox="1">
            <a:spLocks/>
          </p:cNvSpPr>
          <p:nvPr/>
        </p:nvSpPr>
        <p:spPr>
          <a:xfrm>
            <a:off x="180109" y="3211084"/>
            <a:ext cx="2923309" cy="328179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Condiciones para estar en este estado</a:t>
            </a:r>
            <a:r>
              <a:rPr lang="es-CO" sz="1200" dirty="0"/>
              <a:t>:</a:t>
            </a:r>
          </a:p>
          <a:p>
            <a:pPr>
              <a:buFontTx/>
              <a:buChar char="-"/>
            </a:pPr>
            <a:r>
              <a:rPr lang="es-CO" sz="1200" dirty="0"/>
              <a:t>El personaje debe estar en el aire pegado a una pared.</a:t>
            </a:r>
          </a:p>
          <a:p>
            <a:pPr>
              <a:buFontTx/>
              <a:buChar char="-"/>
            </a:pPr>
            <a:r>
              <a:rPr lang="es-CO" sz="1200" dirty="0"/>
              <a:t>El jugador pulsa en el control el botón de salto y la dirección izquierda o derecha hacia la pared.</a:t>
            </a:r>
          </a:p>
          <a:p>
            <a:pPr>
              <a:buFontTx/>
              <a:buChar char="-"/>
            </a:pPr>
            <a:r>
              <a:rPr lang="es-CO" sz="1200" dirty="0"/>
              <a:t>El personaje ha adquirido esta habilidad.</a:t>
            </a:r>
          </a:p>
        </p:txBody>
      </p:sp>
      <p:sp>
        <p:nvSpPr>
          <p:cNvPr id="14" name="Marcador de contenido 2">
            <a:extLst>
              <a:ext uri="{FF2B5EF4-FFF2-40B4-BE49-F238E27FC236}">
                <a16:creationId xmlns:a16="http://schemas.microsoft.com/office/drawing/2014/main" id="{166DE6B4-E7AB-EE02-D3B3-83ADB8B78E74}"/>
              </a:ext>
            </a:extLst>
          </p:cNvPr>
          <p:cNvSpPr txBox="1">
            <a:spLocks/>
          </p:cNvSpPr>
          <p:nvPr/>
        </p:nvSpPr>
        <p:spPr>
          <a:xfrm>
            <a:off x="4267200" y="3211084"/>
            <a:ext cx="2923309" cy="328179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Desde este estado se puede pasar a los siguientes estados</a:t>
            </a:r>
            <a:r>
              <a:rPr lang="es-CO" sz="1200" dirty="0"/>
              <a:t>:</a:t>
            </a:r>
          </a:p>
          <a:p>
            <a:pPr>
              <a:buFontTx/>
              <a:buChar char="-"/>
            </a:pPr>
            <a:r>
              <a:rPr lang="es-CO" sz="1200" dirty="0"/>
              <a:t>Salto de Pared (Wall </a:t>
            </a:r>
            <a:r>
              <a:rPr lang="es-CO" sz="1200" dirty="0" err="1"/>
              <a:t>Jump</a:t>
            </a:r>
            <a:r>
              <a:rPr lang="es-CO" sz="1200" dirty="0"/>
              <a:t>)</a:t>
            </a:r>
          </a:p>
          <a:p>
            <a:pPr>
              <a:buFontTx/>
              <a:buChar char="-"/>
            </a:pPr>
            <a:r>
              <a:rPr lang="es-CO" sz="1200" dirty="0"/>
              <a:t>Doble Salto (</a:t>
            </a:r>
            <a:r>
              <a:rPr lang="es-CO" sz="1200" dirty="0" err="1"/>
              <a:t>Double</a:t>
            </a:r>
            <a:r>
              <a:rPr lang="es-CO" sz="1200" dirty="0"/>
              <a:t> </a:t>
            </a:r>
            <a:r>
              <a:rPr lang="es-CO" sz="1200" dirty="0" err="1"/>
              <a:t>Jump</a:t>
            </a:r>
            <a:r>
              <a:rPr lang="es-CO" sz="1200" dirty="0"/>
              <a:t>)</a:t>
            </a:r>
          </a:p>
          <a:p>
            <a:pPr>
              <a:buFontTx/>
              <a:buChar char="-"/>
            </a:pPr>
            <a:r>
              <a:rPr lang="es-CO" sz="1200" dirty="0"/>
              <a:t>Reposo (Idle) – Si la velocidad vertical es de caída.</a:t>
            </a:r>
          </a:p>
          <a:p>
            <a:pPr>
              <a:buFontTx/>
              <a:buChar char="-"/>
            </a:pPr>
            <a:r>
              <a:rPr lang="es-CO" sz="1200" dirty="0"/>
              <a:t>Caminar (</a:t>
            </a:r>
            <a:r>
              <a:rPr lang="es-CO" sz="1200" dirty="0" err="1"/>
              <a:t>Walk</a:t>
            </a:r>
            <a:r>
              <a:rPr lang="es-CO" sz="1200" dirty="0"/>
              <a:t>) – Si la velocidad vertical es de caída.</a:t>
            </a:r>
          </a:p>
          <a:p>
            <a:pPr>
              <a:buFontTx/>
              <a:buChar char="-"/>
            </a:pPr>
            <a:r>
              <a:rPr lang="es-CO" sz="1200" dirty="0"/>
              <a:t>Caer (</a:t>
            </a:r>
            <a:r>
              <a:rPr lang="es-CO" sz="1200" dirty="0" err="1"/>
              <a:t>Falling</a:t>
            </a:r>
            <a:r>
              <a:rPr lang="es-CO" sz="1200" dirty="0"/>
              <a:t>)</a:t>
            </a:r>
          </a:p>
          <a:p>
            <a:pPr>
              <a:buFontTx/>
              <a:buChar char="-"/>
            </a:pPr>
            <a:r>
              <a:rPr lang="es-CO" sz="1200" dirty="0"/>
              <a:t>Daño (</a:t>
            </a:r>
            <a:r>
              <a:rPr lang="es-CO" sz="1200" dirty="0" err="1"/>
              <a:t>Damage</a:t>
            </a:r>
            <a:r>
              <a:rPr lang="es-CO" sz="1200" dirty="0"/>
              <a:t>)</a:t>
            </a:r>
          </a:p>
          <a:p>
            <a:pPr>
              <a:buFontTx/>
              <a:buChar char="-"/>
            </a:pPr>
            <a:r>
              <a:rPr lang="es-CO" sz="1200" dirty="0"/>
              <a:t>Impulso (</a:t>
            </a:r>
            <a:r>
              <a:rPr lang="es-CO" sz="1200" dirty="0" err="1"/>
              <a:t>Dash</a:t>
            </a:r>
            <a:r>
              <a:rPr lang="es-CO" sz="1200" dirty="0"/>
              <a:t>)</a:t>
            </a:r>
          </a:p>
        </p:txBody>
      </p:sp>
      <p:sp>
        <p:nvSpPr>
          <p:cNvPr id="15" name="Marcador de contenido 2">
            <a:extLst>
              <a:ext uri="{FF2B5EF4-FFF2-40B4-BE49-F238E27FC236}">
                <a16:creationId xmlns:a16="http://schemas.microsoft.com/office/drawing/2014/main" id="{9183BADD-5E96-EE1A-E0D1-A021780E8E2B}"/>
              </a:ext>
            </a:extLst>
          </p:cNvPr>
          <p:cNvSpPr txBox="1">
            <a:spLocks/>
          </p:cNvSpPr>
          <p:nvPr/>
        </p:nvSpPr>
        <p:spPr>
          <a:xfrm>
            <a:off x="8354291" y="3211083"/>
            <a:ext cx="3657600" cy="328179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Se llega a este estado desde los siguientes estados</a:t>
            </a:r>
            <a:r>
              <a:rPr lang="es-CO" sz="1200" dirty="0"/>
              <a:t>:</a:t>
            </a:r>
          </a:p>
          <a:p>
            <a:pPr>
              <a:buFontTx/>
              <a:buChar char="-"/>
            </a:pPr>
            <a:r>
              <a:rPr lang="es-CO" sz="1200" dirty="0"/>
              <a:t>Salto (</a:t>
            </a:r>
            <a:r>
              <a:rPr lang="es-CO" sz="1200" dirty="0" err="1"/>
              <a:t>Jump</a:t>
            </a:r>
            <a:r>
              <a:rPr lang="es-CO" sz="1200" dirty="0"/>
              <a:t>)</a:t>
            </a:r>
          </a:p>
          <a:p>
            <a:pPr>
              <a:buFontTx/>
              <a:buChar char="-"/>
            </a:pPr>
            <a:r>
              <a:rPr lang="es-CO" sz="1200" dirty="0"/>
              <a:t>Doble Salto (</a:t>
            </a:r>
            <a:r>
              <a:rPr lang="es-CO" sz="1200" dirty="0" err="1"/>
              <a:t>Double</a:t>
            </a:r>
            <a:r>
              <a:rPr lang="es-CO" sz="1200" dirty="0"/>
              <a:t> </a:t>
            </a:r>
            <a:r>
              <a:rPr lang="es-CO" sz="1200" dirty="0" err="1"/>
              <a:t>Jump</a:t>
            </a:r>
            <a:r>
              <a:rPr lang="es-CO" sz="1200" dirty="0"/>
              <a:t>)</a:t>
            </a:r>
          </a:p>
          <a:p>
            <a:pPr>
              <a:buFontTx/>
              <a:buChar char="-"/>
            </a:pPr>
            <a:r>
              <a:rPr lang="es-CO" sz="1200" dirty="0"/>
              <a:t>Salto de Pared (Wall </a:t>
            </a:r>
            <a:r>
              <a:rPr lang="es-CO" sz="1200" dirty="0" err="1"/>
              <a:t>Jump</a:t>
            </a:r>
            <a:r>
              <a:rPr lang="es-CO" sz="1200" dirty="0"/>
              <a:t>)</a:t>
            </a:r>
          </a:p>
          <a:p>
            <a:pPr>
              <a:buFontTx/>
              <a:buChar char="-"/>
            </a:pPr>
            <a:r>
              <a:rPr lang="es-CO" sz="1200" dirty="0"/>
              <a:t>Deslizamiento en Pared (Wall </a:t>
            </a:r>
            <a:r>
              <a:rPr lang="es-CO" sz="1200" dirty="0" err="1"/>
              <a:t>Slide</a:t>
            </a:r>
            <a:r>
              <a:rPr lang="es-CO" sz="1200" dirty="0"/>
              <a:t>)</a:t>
            </a:r>
          </a:p>
        </p:txBody>
      </p:sp>
      <p:pic>
        <p:nvPicPr>
          <p:cNvPr id="5" name="Imagen 4">
            <a:extLst>
              <a:ext uri="{FF2B5EF4-FFF2-40B4-BE49-F238E27FC236}">
                <a16:creationId xmlns:a16="http://schemas.microsoft.com/office/drawing/2014/main" id="{15DD89CD-1991-486B-B441-86F11A6EBD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9200" y="2784771"/>
            <a:ext cx="2133600" cy="304800"/>
          </a:xfrm>
          <a:prstGeom prst="rect">
            <a:avLst/>
          </a:prstGeom>
        </p:spPr>
      </p:pic>
    </p:spTree>
    <p:extLst>
      <p:ext uri="{BB962C8B-B14F-4D97-AF65-F5344CB8AC3E}">
        <p14:creationId xmlns:p14="http://schemas.microsoft.com/office/powerpoint/2010/main" val="978659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7"/>
            <a:ext cx="11845636" cy="974061"/>
          </a:xfrm>
        </p:spPr>
        <p:txBody>
          <a:bodyPr wrap="square">
            <a:noAutofit/>
          </a:bodyPr>
          <a:lstStyle/>
          <a:p>
            <a:pPr marL="0" indent="0">
              <a:buNone/>
            </a:pPr>
            <a:r>
              <a:rPr lang="es-CO" sz="1200" b="1" dirty="0"/>
              <a:t>Caer (</a:t>
            </a:r>
            <a:r>
              <a:rPr lang="es-CO" sz="1200" b="1" dirty="0" err="1"/>
              <a:t>Falling</a:t>
            </a:r>
            <a:r>
              <a:rPr lang="es-CO" sz="1200" b="1" dirty="0"/>
              <a:t>)</a:t>
            </a:r>
            <a:r>
              <a:rPr lang="es-CO" sz="1200" dirty="0"/>
              <a:t>: En este estado el personaje se mueve verticalmente hacia abajo si está en el aire. Ocurre cuando el personaje está en el aire, el avance se realiza de a poco acelerándose por el efecto del calculo de la gravedad. Aquí se mostrará una animación del personaje mirando hacia abajo en una pose de caída. El personaje se desplazará hacia abajo hasta alcanzar una superficie (suelo).</a:t>
            </a:r>
          </a:p>
          <a:p>
            <a:pPr marL="0" indent="0">
              <a:buNone/>
            </a:pPr>
            <a:r>
              <a:rPr lang="es-CO" sz="1200" dirty="0"/>
              <a:t>Durante la caída, la gravedad va aplicando velocidad, una aceleración, se debe limitar esa velocidad de caída, que no supere el doble de la gravedad.</a:t>
            </a:r>
          </a:p>
        </p:txBody>
      </p:sp>
      <p:sp>
        <p:nvSpPr>
          <p:cNvPr id="13" name="Marcador de contenido 2">
            <a:extLst>
              <a:ext uri="{FF2B5EF4-FFF2-40B4-BE49-F238E27FC236}">
                <a16:creationId xmlns:a16="http://schemas.microsoft.com/office/drawing/2014/main" id="{8B9BEE07-0609-805A-A7A1-C83C01C2EA1D}"/>
              </a:ext>
            </a:extLst>
          </p:cNvPr>
          <p:cNvSpPr txBox="1">
            <a:spLocks/>
          </p:cNvSpPr>
          <p:nvPr/>
        </p:nvSpPr>
        <p:spPr>
          <a:xfrm>
            <a:off x="180109" y="2446964"/>
            <a:ext cx="2923309" cy="404591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Condiciones para estar en este estado</a:t>
            </a:r>
            <a:r>
              <a:rPr lang="es-CO" sz="1200" dirty="0"/>
              <a:t>:</a:t>
            </a:r>
          </a:p>
          <a:p>
            <a:pPr>
              <a:buFontTx/>
              <a:buChar char="-"/>
            </a:pPr>
            <a:r>
              <a:rPr lang="es-CO" sz="1200" dirty="0"/>
              <a:t>El personaje debe estar en el aire.</a:t>
            </a:r>
          </a:p>
        </p:txBody>
      </p:sp>
      <p:sp>
        <p:nvSpPr>
          <p:cNvPr id="14" name="Marcador de contenido 2">
            <a:extLst>
              <a:ext uri="{FF2B5EF4-FFF2-40B4-BE49-F238E27FC236}">
                <a16:creationId xmlns:a16="http://schemas.microsoft.com/office/drawing/2014/main" id="{166DE6B4-E7AB-EE02-D3B3-83ADB8B78E74}"/>
              </a:ext>
            </a:extLst>
          </p:cNvPr>
          <p:cNvSpPr txBox="1">
            <a:spLocks/>
          </p:cNvSpPr>
          <p:nvPr/>
        </p:nvSpPr>
        <p:spPr>
          <a:xfrm>
            <a:off x="4267200" y="2446964"/>
            <a:ext cx="2923309" cy="404591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Desde este estado se puede pasar a los siguientes estados</a:t>
            </a:r>
            <a:r>
              <a:rPr lang="es-CO" sz="1200" dirty="0"/>
              <a:t>:</a:t>
            </a:r>
          </a:p>
          <a:p>
            <a:pPr>
              <a:buFontTx/>
              <a:buChar char="-"/>
            </a:pPr>
            <a:r>
              <a:rPr lang="es-CO" sz="1200" dirty="0"/>
              <a:t>Doble Salto (</a:t>
            </a:r>
            <a:r>
              <a:rPr lang="es-CO" sz="1200" dirty="0" err="1"/>
              <a:t>Double</a:t>
            </a:r>
            <a:r>
              <a:rPr lang="es-CO" sz="1200" dirty="0"/>
              <a:t> </a:t>
            </a:r>
            <a:r>
              <a:rPr lang="es-CO" sz="1200" dirty="0" err="1"/>
              <a:t>Jump</a:t>
            </a:r>
            <a:r>
              <a:rPr lang="es-CO" sz="1200" dirty="0"/>
              <a:t>)</a:t>
            </a:r>
          </a:p>
          <a:p>
            <a:pPr>
              <a:buFontTx/>
              <a:buChar char="-"/>
            </a:pPr>
            <a:r>
              <a:rPr lang="es-CO" sz="1200" dirty="0"/>
              <a:t>Reposo (Idle)</a:t>
            </a:r>
          </a:p>
          <a:p>
            <a:pPr>
              <a:buFontTx/>
              <a:buChar char="-"/>
            </a:pPr>
            <a:r>
              <a:rPr lang="es-CO" sz="1200" dirty="0"/>
              <a:t>Caminar (</a:t>
            </a:r>
            <a:r>
              <a:rPr lang="es-CO" sz="1200" dirty="0" err="1"/>
              <a:t>Walk</a:t>
            </a:r>
            <a:r>
              <a:rPr lang="es-CO" sz="1200" dirty="0"/>
              <a:t>)</a:t>
            </a:r>
          </a:p>
          <a:p>
            <a:pPr>
              <a:buFontTx/>
              <a:buChar char="-"/>
            </a:pPr>
            <a:r>
              <a:rPr lang="es-CO" sz="1200" dirty="0"/>
              <a:t>Deslizamiento en Pared (Wall </a:t>
            </a:r>
            <a:r>
              <a:rPr lang="es-CO" sz="1200" dirty="0" err="1"/>
              <a:t>Slide</a:t>
            </a:r>
            <a:r>
              <a:rPr lang="es-CO" sz="1200" dirty="0"/>
              <a:t>)</a:t>
            </a:r>
          </a:p>
          <a:p>
            <a:pPr>
              <a:buFontTx/>
              <a:buChar char="-"/>
            </a:pPr>
            <a:r>
              <a:rPr lang="es-CO" sz="1200" dirty="0"/>
              <a:t>Daño (</a:t>
            </a:r>
            <a:r>
              <a:rPr lang="es-CO" sz="1200" dirty="0" err="1"/>
              <a:t>Damage</a:t>
            </a:r>
            <a:r>
              <a:rPr lang="es-CO" sz="1200" dirty="0"/>
              <a:t>)</a:t>
            </a:r>
          </a:p>
          <a:p>
            <a:pPr>
              <a:buFontTx/>
              <a:buChar char="-"/>
            </a:pPr>
            <a:r>
              <a:rPr lang="es-CO" sz="1200" dirty="0"/>
              <a:t>Impulso (</a:t>
            </a:r>
            <a:r>
              <a:rPr lang="es-CO" sz="1200" dirty="0" err="1"/>
              <a:t>Dash</a:t>
            </a:r>
            <a:r>
              <a:rPr lang="es-CO" sz="1200" dirty="0"/>
              <a:t>)</a:t>
            </a:r>
          </a:p>
          <a:p>
            <a:pPr>
              <a:buFontTx/>
              <a:buChar char="-"/>
            </a:pPr>
            <a:r>
              <a:rPr lang="es-CO" sz="1200" dirty="0"/>
              <a:t>Aterrizaje (</a:t>
            </a:r>
            <a:r>
              <a:rPr lang="es-CO" sz="1200" dirty="0" err="1"/>
              <a:t>Landing</a:t>
            </a:r>
            <a:r>
              <a:rPr lang="es-CO" sz="1200" dirty="0"/>
              <a:t>)</a:t>
            </a:r>
          </a:p>
        </p:txBody>
      </p:sp>
      <p:sp>
        <p:nvSpPr>
          <p:cNvPr id="15" name="Marcador de contenido 2">
            <a:extLst>
              <a:ext uri="{FF2B5EF4-FFF2-40B4-BE49-F238E27FC236}">
                <a16:creationId xmlns:a16="http://schemas.microsoft.com/office/drawing/2014/main" id="{9183BADD-5E96-EE1A-E0D1-A021780E8E2B}"/>
              </a:ext>
            </a:extLst>
          </p:cNvPr>
          <p:cNvSpPr txBox="1">
            <a:spLocks/>
          </p:cNvSpPr>
          <p:nvPr/>
        </p:nvSpPr>
        <p:spPr>
          <a:xfrm>
            <a:off x="8354291" y="2446963"/>
            <a:ext cx="3657600" cy="404591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Se llega a este estado desde los siguientes estados</a:t>
            </a:r>
            <a:r>
              <a:rPr lang="es-CO" sz="1200" dirty="0"/>
              <a:t>:</a:t>
            </a:r>
          </a:p>
          <a:p>
            <a:pPr>
              <a:buFontTx/>
              <a:buChar char="-"/>
            </a:pPr>
            <a:r>
              <a:rPr lang="es-CO" sz="1200" dirty="0"/>
              <a:t>Reposo (Idle)</a:t>
            </a:r>
          </a:p>
          <a:p>
            <a:pPr>
              <a:buFontTx/>
              <a:buChar char="-"/>
            </a:pPr>
            <a:r>
              <a:rPr lang="es-CO" sz="1200" dirty="0"/>
              <a:t>Caminar (</a:t>
            </a:r>
            <a:r>
              <a:rPr lang="es-CO" sz="1200" dirty="0" err="1"/>
              <a:t>Walk</a:t>
            </a:r>
            <a:r>
              <a:rPr lang="es-CO" sz="1200" dirty="0"/>
              <a:t>)</a:t>
            </a:r>
          </a:p>
          <a:p>
            <a:pPr>
              <a:buFontTx/>
              <a:buChar char="-"/>
            </a:pPr>
            <a:r>
              <a:rPr lang="es-CO" sz="1200" dirty="0"/>
              <a:t>Salto (</a:t>
            </a:r>
            <a:r>
              <a:rPr lang="es-CO" sz="1200" dirty="0" err="1"/>
              <a:t>Jump</a:t>
            </a:r>
            <a:r>
              <a:rPr lang="es-CO" sz="1200" dirty="0"/>
              <a:t>)</a:t>
            </a:r>
          </a:p>
          <a:p>
            <a:pPr>
              <a:buFontTx/>
              <a:buChar char="-"/>
            </a:pPr>
            <a:r>
              <a:rPr lang="es-CO" sz="1200" dirty="0"/>
              <a:t>Doble Salto (</a:t>
            </a:r>
            <a:r>
              <a:rPr lang="es-CO" sz="1200" dirty="0" err="1"/>
              <a:t>Double</a:t>
            </a:r>
            <a:r>
              <a:rPr lang="es-CO" sz="1200" dirty="0"/>
              <a:t> </a:t>
            </a:r>
            <a:r>
              <a:rPr lang="es-CO" sz="1200" dirty="0" err="1"/>
              <a:t>Jump</a:t>
            </a:r>
            <a:r>
              <a:rPr lang="es-CO" sz="1200" dirty="0"/>
              <a:t>)</a:t>
            </a:r>
          </a:p>
          <a:p>
            <a:pPr>
              <a:buFontTx/>
              <a:buChar char="-"/>
            </a:pPr>
            <a:r>
              <a:rPr lang="es-CO" sz="1200" dirty="0"/>
              <a:t>Salto de Pared (Wall </a:t>
            </a:r>
            <a:r>
              <a:rPr lang="es-CO" sz="1200" dirty="0" err="1"/>
              <a:t>Jump</a:t>
            </a:r>
            <a:r>
              <a:rPr lang="es-CO" sz="1200" dirty="0"/>
              <a:t>)</a:t>
            </a:r>
          </a:p>
          <a:p>
            <a:pPr>
              <a:buFontTx/>
              <a:buChar char="-"/>
            </a:pPr>
            <a:r>
              <a:rPr lang="es-CO" sz="1200" dirty="0"/>
              <a:t>Deslizamiento en Pared (Wall </a:t>
            </a:r>
            <a:r>
              <a:rPr lang="es-CO" sz="1200" dirty="0" err="1"/>
              <a:t>Slide</a:t>
            </a:r>
            <a:r>
              <a:rPr lang="es-CO" sz="1200" dirty="0"/>
              <a:t>)</a:t>
            </a:r>
          </a:p>
          <a:p>
            <a:pPr>
              <a:buFontTx/>
              <a:buChar char="-"/>
            </a:pPr>
            <a:r>
              <a:rPr lang="es-CO" sz="1200" dirty="0"/>
              <a:t>Daño (</a:t>
            </a:r>
            <a:r>
              <a:rPr lang="es-CO" sz="1200" dirty="0" err="1"/>
              <a:t>Damage</a:t>
            </a:r>
            <a:r>
              <a:rPr lang="es-CO" sz="1200" dirty="0"/>
              <a:t>)</a:t>
            </a:r>
          </a:p>
          <a:p>
            <a:pPr>
              <a:buFontTx/>
              <a:buChar char="-"/>
            </a:pPr>
            <a:r>
              <a:rPr lang="es-CO" sz="1200" dirty="0"/>
              <a:t>Impulso (</a:t>
            </a:r>
            <a:r>
              <a:rPr lang="es-CO" sz="1200" dirty="0" err="1"/>
              <a:t>Dash</a:t>
            </a:r>
            <a:r>
              <a:rPr lang="es-CO" sz="1200" dirty="0"/>
              <a:t>)</a:t>
            </a:r>
          </a:p>
        </p:txBody>
      </p:sp>
      <p:pic>
        <p:nvPicPr>
          <p:cNvPr id="6" name="Imagen 5">
            <a:extLst>
              <a:ext uri="{FF2B5EF4-FFF2-40B4-BE49-F238E27FC236}">
                <a16:creationId xmlns:a16="http://schemas.microsoft.com/office/drawing/2014/main" id="{21BB698B-9691-2E26-13B0-F2CEFEA71F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9200" y="2020650"/>
            <a:ext cx="2133600" cy="304800"/>
          </a:xfrm>
          <a:prstGeom prst="rect">
            <a:avLst/>
          </a:prstGeom>
        </p:spPr>
      </p:pic>
    </p:spTree>
    <p:extLst>
      <p:ext uri="{BB962C8B-B14F-4D97-AF65-F5344CB8AC3E}">
        <p14:creationId xmlns:p14="http://schemas.microsoft.com/office/powerpoint/2010/main" val="3123457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7"/>
            <a:ext cx="11845636" cy="974061"/>
          </a:xfrm>
        </p:spPr>
        <p:txBody>
          <a:bodyPr wrap="square">
            <a:noAutofit/>
          </a:bodyPr>
          <a:lstStyle/>
          <a:p>
            <a:pPr marL="0" indent="0">
              <a:buNone/>
            </a:pPr>
            <a:r>
              <a:rPr lang="es-CO" sz="1200" b="1" dirty="0"/>
              <a:t>Aterrizaje (</a:t>
            </a:r>
            <a:r>
              <a:rPr lang="es-CO" sz="1200" b="1" dirty="0" err="1"/>
              <a:t>Landing</a:t>
            </a:r>
            <a:r>
              <a:rPr lang="es-CO" sz="1200" b="1" dirty="0"/>
              <a:t>)</a:t>
            </a:r>
            <a:r>
              <a:rPr lang="es-CO" sz="1200" dirty="0"/>
              <a:t>: En este estado el personaje se arrodilla en el piso por efecto de haber caído muy rápido. Ocurre cuando el personaje está en el aire, cayendo (</a:t>
            </a:r>
            <a:r>
              <a:rPr lang="es-CO" sz="1200" dirty="0" err="1"/>
              <a:t>falling</a:t>
            </a:r>
            <a:r>
              <a:rPr lang="es-CO" sz="1200" dirty="0"/>
              <a:t>), y alcanza una velocidad de caída igual al de la gravedad de caída. Aquí se mostrará una animación del personaje en el suelo de rodillas. En este estado el personaje no se podrá mover o realizar otras acciones, solo podrá recibir daño o volver a caer.</a:t>
            </a:r>
          </a:p>
          <a:p>
            <a:pPr marL="0" indent="0">
              <a:buNone/>
            </a:pPr>
            <a:r>
              <a:rPr lang="es-CO" sz="1200" dirty="0"/>
              <a:t>Este estado tiene un temporizador que hace que el personaje se mantenga arrodillado unas decimas de segundo antes de poder pasar al reposo o caminar.</a:t>
            </a:r>
          </a:p>
        </p:txBody>
      </p:sp>
      <p:sp>
        <p:nvSpPr>
          <p:cNvPr id="13" name="Marcador de contenido 2">
            <a:extLst>
              <a:ext uri="{FF2B5EF4-FFF2-40B4-BE49-F238E27FC236}">
                <a16:creationId xmlns:a16="http://schemas.microsoft.com/office/drawing/2014/main" id="{8B9BEE07-0609-805A-A7A1-C83C01C2EA1D}"/>
              </a:ext>
            </a:extLst>
          </p:cNvPr>
          <p:cNvSpPr txBox="1">
            <a:spLocks/>
          </p:cNvSpPr>
          <p:nvPr/>
        </p:nvSpPr>
        <p:spPr>
          <a:xfrm>
            <a:off x="180109" y="2446964"/>
            <a:ext cx="2923309" cy="404591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Condiciones para estar en este estado</a:t>
            </a:r>
            <a:r>
              <a:rPr lang="es-CO" sz="1200" dirty="0"/>
              <a:t>:</a:t>
            </a:r>
          </a:p>
          <a:p>
            <a:pPr>
              <a:buFontTx/>
              <a:buChar char="-"/>
            </a:pPr>
            <a:r>
              <a:rPr lang="es-CO" sz="1200" dirty="0"/>
              <a:t>Venir del estado de caída (</a:t>
            </a:r>
            <a:r>
              <a:rPr lang="es-CO" sz="1200" dirty="0" err="1"/>
              <a:t>falling</a:t>
            </a:r>
            <a:r>
              <a:rPr lang="es-CO" sz="1200" dirty="0"/>
              <a:t>) a una velocidad igual a la gravedad de caída.</a:t>
            </a:r>
          </a:p>
          <a:p>
            <a:pPr>
              <a:buFontTx/>
              <a:buChar char="-"/>
            </a:pPr>
            <a:r>
              <a:rPr lang="es-CO" sz="1200" dirty="0"/>
              <a:t>Tocar el suelo.</a:t>
            </a:r>
          </a:p>
        </p:txBody>
      </p:sp>
      <p:sp>
        <p:nvSpPr>
          <p:cNvPr id="14" name="Marcador de contenido 2">
            <a:extLst>
              <a:ext uri="{FF2B5EF4-FFF2-40B4-BE49-F238E27FC236}">
                <a16:creationId xmlns:a16="http://schemas.microsoft.com/office/drawing/2014/main" id="{166DE6B4-E7AB-EE02-D3B3-83ADB8B78E74}"/>
              </a:ext>
            </a:extLst>
          </p:cNvPr>
          <p:cNvSpPr txBox="1">
            <a:spLocks/>
          </p:cNvSpPr>
          <p:nvPr/>
        </p:nvSpPr>
        <p:spPr>
          <a:xfrm>
            <a:off x="4267200" y="2446964"/>
            <a:ext cx="2923309" cy="404591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Desde este estado se puede pasar a los siguientes estados</a:t>
            </a:r>
            <a:r>
              <a:rPr lang="es-CO" sz="1200" dirty="0"/>
              <a:t>:</a:t>
            </a:r>
          </a:p>
          <a:p>
            <a:pPr>
              <a:buFontTx/>
              <a:buChar char="-"/>
            </a:pPr>
            <a:r>
              <a:rPr lang="es-CO" sz="1200" dirty="0"/>
              <a:t>Reposo (Idle)</a:t>
            </a:r>
          </a:p>
          <a:p>
            <a:pPr>
              <a:buFontTx/>
              <a:buChar char="-"/>
            </a:pPr>
            <a:r>
              <a:rPr lang="es-CO" sz="1200" dirty="0"/>
              <a:t>Caminar (</a:t>
            </a:r>
            <a:r>
              <a:rPr lang="es-CO" sz="1200" dirty="0" err="1"/>
              <a:t>Walk</a:t>
            </a:r>
            <a:r>
              <a:rPr lang="es-CO" sz="1200" dirty="0"/>
              <a:t>)</a:t>
            </a:r>
          </a:p>
          <a:p>
            <a:pPr>
              <a:buFontTx/>
              <a:buChar char="-"/>
            </a:pPr>
            <a:r>
              <a:rPr lang="es-CO" sz="1200" dirty="0"/>
              <a:t>Daño (</a:t>
            </a:r>
            <a:r>
              <a:rPr lang="es-CO" sz="1200" dirty="0" err="1"/>
              <a:t>Damage</a:t>
            </a:r>
            <a:r>
              <a:rPr lang="es-CO" sz="1200" dirty="0"/>
              <a:t>)</a:t>
            </a:r>
          </a:p>
          <a:p>
            <a:pPr>
              <a:buFontTx/>
              <a:buChar char="-"/>
            </a:pPr>
            <a:r>
              <a:rPr lang="es-CO" sz="1200" dirty="0"/>
              <a:t>Caer (</a:t>
            </a:r>
            <a:r>
              <a:rPr lang="es-CO" sz="1200" dirty="0" err="1"/>
              <a:t>Falling</a:t>
            </a:r>
            <a:r>
              <a:rPr lang="es-CO" sz="1200" dirty="0"/>
              <a:t>)</a:t>
            </a:r>
          </a:p>
        </p:txBody>
      </p:sp>
      <p:sp>
        <p:nvSpPr>
          <p:cNvPr id="15" name="Marcador de contenido 2">
            <a:extLst>
              <a:ext uri="{FF2B5EF4-FFF2-40B4-BE49-F238E27FC236}">
                <a16:creationId xmlns:a16="http://schemas.microsoft.com/office/drawing/2014/main" id="{9183BADD-5E96-EE1A-E0D1-A021780E8E2B}"/>
              </a:ext>
            </a:extLst>
          </p:cNvPr>
          <p:cNvSpPr txBox="1">
            <a:spLocks/>
          </p:cNvSpPr>
          <p:nvPr/>
        </p:nvSpPr>
        <p:spPr>
          <a:xfrm>
            <a:off x="8354291" y="2446963"/>
            <a:ext cx="3657600" cy="404591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Se llega a este estado desde los siguientes estados</a:t>
            </a:r>
            <a:r>
              <a:rPr lang="es-CO" sz="1200" dirty="0"/>
              <a:t>:</a:t>
            </a:r>
          </a:p>
          <a:p>
            <a:pPr>
              <a:buFontTx/>
              <a:buChar char="-"/>
            </a:pPr>
            <a:r>
              <a:rPr lang="es-CO" sz="1200" dirty="0"/>
              <a:t>Caer (</a:t>
            </a:r>
            <a:r>
              <a:rPr lang="es-CO" sz="1200" dirty="0" err="1"/>
              <a:t>Falling</a:t>
            </a:r>
            <a:r>
              <a:rPr lang="es-CO" sz="1200" dirty="0"/>
              <a:t>)</a:t>
            </a:r>
          </a:p>
        </p:txBody>
      </p:sp>
      <p:pic>
        <p:nvPicPr>
          <p:cNvPr id="5" name="Imagen 4">
            <a:extLst>
              <a:ext uri="{FF2B5EF4-FFF2-40B4-BE49-F238E27FC236}">
                <a16:creationId xmlns:a16="http://schemas.microsoft.com/office/drawing/2014/main" id="{58752193-7808-C718-7FCE-075D02F7CD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43600" y="2020650"/>
            <a:ext cx="304800" cy="304800"/>
          </a:xfrm>
          <a:prstGeom prst="rect">
            <a:avLst/>
          </a:prstGeom>
        </p:spPr>
      </p:pic>
    </p:spTree>
    <p:extLst>
      <p:ext uri="{BB962C8B-B14F-4D97-AF65-F5344CB8AC3E}">
        <p14:creationId xmlns:p14="http://schemas.microsoft.com/office/powerpoint/2010/main" val="24003166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8"/>
            <a:ext cx="11845636" cy="847452"/>
          </a:xfrm>
        </p:spPr>
        <p:txBody>
          <a:bodyPr wrap="square">
            <a:noAutofit/>
          </a:bodyPr>
          <a:lstStyle/>
          <a:p>
            <a:pPr marL="0" indent="0">
              <a:buNone/>
            </a:pPr>
            <a:r>
              <a:rPr lang="es-CO" sz="1200" b="1" dirty="0"/>
              <a:t>Deslizamiento de Pared (Wall </a:t>
            </a:r>
            <a:r>
              <a:rPr lang="es-CO" sz="1200" b="1" dirty="0" err="1"/>
              <a:t>Slide</a:t>
            </a:r>
            <a:r>
              <a:rPr lang="es-CO" sz="1200" b="1" dirty="0"/>
              <a:t>)</a:t>
            </a:r>
            <a:r>
              <a:rPr lang="es-CO" sz="1200" dirty="0"/>
              <a:t>: En este estado el personaje se mueve verticalmente hacia abajo si está en el aire, en caída, pegado a una pared, y ha adquirido esta habilidad. Ocurre cuando el personaje está en el aire, en caída y pegado a una pared, el jugador pulsa en el control la dirección derecha o izquierda hacia la pared. Aquí se mostrará una animación del personaje mirando hacia abajo en una pose de caída lenta resbalándose por la pared. El personaje se desplazará hacia abajo a una velocidad constante más lento que con la gravedad.</a:t>
            </a:r>
          </a:p>
        </p:txBody>
      </p:sp>
      <p:sp>
        <p:nvSpPr>
          <p:cNvPr id="13" name="Marcador de contenido 2">
            <a:extLst>
              <a:ext uri="{FF2B5EF4-FFF2-40B4-BE49-F238E27FC236}">
                <a16:creationId xmlns:a16="http://schemas.microsoft.com/office/drawing/2014/main" id="{8B9BEE07-0609-805A-A7A1-C83C01C2EA1D}"/>
              </a:ext>
            </a:extLst>
          </p:cNvPr>
          <p:cNvSpPr txBox="1">
            <a:spLocks/>
          </p:cNvSpPr>
          <p:nvPr/>
        </p:nvSpPr>
        <p:spPr>
          <a:xfrm>
            <a:off x="180109" y="2320358"/>
            <a:ext cx="2923309" cy="417251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Condiciones para estar en este estado</a:t>
            </a:r>
            <a:r>
              <a:rPr lang="es-CO" sz="1200" dirty="0"/>
              <a:t>:</a:t>
            </a:r>
          </a:p>
          <a:p>
            <a:pPr>
              <a:buFontTx/>
              <a:buChar char="-"/>
            </a:pPr>
            <a:r>
              <a:rPr lang="es-CO" sz="1200" dirty="0"/>
              <a:t>El personaje debe estar en el aire, en caída,  pegado a una pared.</a:t>
            </a:r>
          </a:p>
          <a:p>
            <a:pPr>
              <a:buFontTx/>
              <a:buChar char="-"/>
            </a:pPr>
            <a:r>
              <a:rPr lang="es-CO" sz="1200" dirty="0"/>
              <a:t>El jugador debe estar pulsando la dirección izquierda o derecha hacia la pared.</a:t>
            </a:r>
          </a:p>
        </p:txBody>
      </p:sp>
      <p:sp>
        <p:nvSpPr>
          <p:cNvPr id="14" name="Marcador de contenido 2">
            <a:extLst>
              <a:ext uri="{FF2B5EF4-FFF2-40B4-BE49-F238E27FC236}">
                <a16:creationId xmlns:a16="http://schemas.microsoft.com/office/drawing/2014/main" id="{166DE6B4-E7AB-EE02-D3B3-83ADB8B78E74}"/>
              </a:ext>
            </a:extLst>
          </p:cNvPr>
          <p:cNvSpPr txBox="1">
            <a:spLocks/>
          </p:cNvSpPr>
          <p:nvPr/>
        </p:nvSpPr>
        <p:spPr>
          <a:xfrm>
            <a:off x="4267200" y="2320358"/>
            <a:ext cx="2923309" cy="417251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Desde este estado se puede pasar a los siguientes estados</a:t>
            </a:r>
            <a:r>
              <a:rPr lang="es-CO" sz="1200" dirty="0"/>
              <a:t>:</a:t>
            </a:r>
          </a:p>
          <a:p>
            <a:pPr>
              <a:buFontTx/>
              <a:buChar char="-"/>
            </a:pPr>
            <a:r>
              <a:rPr lang="es-CO" sz="1200" dirty="0"/>
              <a:t>Reposo (Idle)</a:t>
            </a:r>
          </a:p>
          <a:p>
            <a:pPr>
              <a:buFontTx/>
              <a:buChar char="-"/>
            </a:pPr>
            <a:r>
              <a:rPr lang="es-CO" sz="1200" dirty="0"/>
              <a:t>Caminar (</a:t>
            </a:r>
            <a:r>
              <a:rPr lang="es-CO" sz="1200" dirty="0" err="1"/>
              <a:t>Walk</a:t>
            </a:r>
            <a:r>
              <a:rPr lang="es-CO" sz="1200" dirty="0"/>
              <a:t>)</a:t>
            </a:r>
          </a:p>
          <a:p>
            <a:pPr>
              <a:buFontTx/>
              <a:buChar char="-"/>
            </a:pPr>
            <a:r>
              <a:rPr lang="es-CO" sz="1200" dirty="0"/>
              <a:t>Salto de Pared (Wall </a:t>
            </a:r>
            <a:r>
              <a:rPr lang="es-CO" sz="1200" dirty="0" err="1"/>
              <a:t>Jump</a:t>
            </a:r>
            <a:r>
              <a:rPr lang="es-CO" sz="1200" dirty="0"/>
              <a:t>)</a:t>
            </a:r>
          </a:p>
          <a:p>
            <a:pPr>
              <a:buFontTx/>
              <a:buChar char="-"/>
            </a:pPr>
            <a:r>
              <a:rPr lang="es-CO" sz="1200" dirty="0"/>
              <a:t>Daño (</a:t>
            </a:r>
            <a:r>
              <a:rPr lang="es-CO" sz="1200" dirty="0" err="1"/>
              <a:t>Damage</a:t>
            </a:r>
            <a:r>
              <a:rPr lang="es-CO" sz="1200" dirty="0"/>
              <a:t>)</a:t>
            </a:r>
          </a:p>
          <a:p>
            <a:pPr>
              <a:buFontTx/>
              <a:buChar char="-"/>
            </a:pPr>
            <a:r>
              <a:rPr lang="es-CO" sz="1200" dirty="0"/>
              <a:t>Impulso (</a:t>
            </a:r>
            <a:r>
              <a:rPr lang="es-CO" sz="1200" dirty="0" err="1"/>
              <a:t>Dash</a:t>
            </a:r>
            <a:r>
              <a:rPr lang="es-CO" sz="1200" dirty="0"/>
              <a:t>)</a:t>
            </a:r>
          </a:p>
          <a:p>
            <a:pPr>
              <a:buFontTx/>
              <a:buChar char="-"/>
            </a:pPr>
            <a:r>
              <a:rPr lang="es-CO" sz="1200" dirty="0"/>
              <a:t>Caer (</a:t>
            </a:r>
            <a:r>
              <a:rPr lang="es-CO" sz="1200" dirty="0" err="1"/>
              <a:t>Falling</a:t>
            </a:r>
            <a:r>
              <a:rPr lang="es-CO" sz="1200" dirty="0"/>
              <a:t>)</a:t>
            </a:r>
          </a:p>
        </p:txBody>
      </p:sp>
      <p:sp>
        <p:nvSpPr>
          <p:cNvPr id="15" name="Marcador de contenido 2">
            <a:extLst>
              <a:ext uri="{FF2B5EF4-FFF2-40B4-BE49-F238E27FC236}">
                <a16:creationId xmlns:a16="http://schemas.microsoft.com/office/drawing/2014/main" id="{9183BADD-5E96-EE1A-E0D1-A021780E8E2B}"/>
              </a:ext>
            </a:extLst>
          </p:cNvPr>
          <p:cNvSpPr txBox="1">
            <a:spLocks/>
          </p:cNvSpPr>
          <p:nvPr/>
        </p:nvSpPr>
        <p:spPr>
          <a:xfrm>
            <a:off x="8354291" y="2320357"/>
            <a:ext cx="3657600" cy="417251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Se llega a este estado desde los siguientes estados</a:t>
            </a:r>
            <a:r>
              <a:rPr lang="es-CO" sz="1200" dirty="0"/>
              <a:t>:</a:t>
            </a:r>
          </a:p>
          <a:p>
            <a:pPr>
              <a:buFontTx/>
              <a:buChar char="-"/>
            </a:pPr>
            <a:r>
              <a:rPr lang="es-CO" sz="1200" dirty="0"/>
              <a:t>Caer (</a:t>
            </a:r>
            <a:r>
              <a:rPr lang="es-CO" sz="1200" dirty="0" err="1"/>
              <a:t>Falling</a:t>
            </a:r>
            <a:r>
              <a:rPr lang="es-CO" sz="1200" dirty="0"/>
              <a:t>)</a:t>
            </a:r>
          </a:p>
        </p:txBody>
      </p:sp>
      <p:pic>
        <p:nvPicPr>
          <p:cNvPr id="4" name="Imagen 3">
            <a:extLst>
              <a:ext uri="{FF2B5EF4-FFF2-40B4-BE49-F238E27FC236}">
                <a16:creationId xmlns:a16="http://schemas.microsoft.com/office/drawing/2014/main" id="{780E5575-CF5F-C437-4D76-A01F2C4A4F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1200" y="1894043"/>
            <a:ext cx="609600" cy="304800"/>
          </a:xfrm>
          <a:prstGeom prst="rect">
            <a:avLst/>
          </a:prstGeom>
        </p:spPr>
      </p:pic>
    </p:spTree>
    <p:extLst>
      <p:ext uri="{BB962C8B-B14F-4D97-AF65-F5344CB8AC3E}">
        <p14:creationId xmlns:p14="http://schemas.microsoft.com/office/powerpoint/2010/main" val="37070744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8"/>
            <a:ext cx="11845636" cy="847452"/>
          </a:xfrm>
        </p:spPr>
        <p:txBody>
          <a:bodyPr wrap="square">
            <a:noAutofit/>
          </a:bodyPr>
          <a:lstStyle/>
          <a:p>
            <a:pPr marL="0" indent="0">
              <a:buNone/>
            </a:pPr>
            <a:r>
              <a:rPr lang="es-CO" sz="1200" b="1" dirty="0"/>
              <a:t>Impulso (</a:t>
            </a:r>
            <a:r>
              <a:rPr lang="es-CO" sz="1200" b="1" dirty="0" err="1"/>
              <a:t>Dash</a:t>
            </a:r>
            <a:r>
              <a:rPr lang="es-CO" sz="1200" b="1" dirty="0"/>
              <a:t>)</a:t>
            </a:r>
            <a:r>
              <a:rPr lang="es-CO" sz="1200" dirty="0"/>
              <a:t>: En este estado el personaje se mueve horizontalmente hacia la dirección en que el jugador indique en el control. Ocurre cuando el personaje ha adquirido esta habilidad, el jugador pulsa en el control el botón para el impulso. Aquí se mostrará una animación del personaje inclinándose hacia adelante. El personaje se desplazará hacia la dirección en que el jugador indique en el control (derecha o izquierda), si esta en el estado de deslizamiento por pared (</a:t>
            </a:r>
            <a:r>
              <a:rPr lang="es-CO" sz="1200" dirty="0" err="1"/>
              <a:t>wall</a:t>
            </a:r>
            <a:r>
              <a:rPr lang="es-CO" sz="1200" dirty="0"/>
              <a:t> </a:t>
            </a:r>
            <a:r>
              <a:rPr lang="es-CO" sz="1200" dirty="0" err="1"/>
              <a:t>slide</a:t>
            </a:r>
            <a:r>
              <a:rPr lang="es-CO" sz="1200" dirty="0"/>
              <a:t>) se desplazará en la dirección que esté mirando. El desplazamiento es a una velocidad mayor a la de caminar. El impulso tiene un tiempo de espera (</a:t>
            </a:r>
            <a:r>
              <a:rPr lang="es-CO" sz="1200" dirty="0" err="1"/>
              <a:t>cooldown</a:t>
            </a:r>
            <a:r>
              <a:rPr lang="es-CO" sz="1200" dirty="0"/>
              <a:t>) antes de poder realizar otro. Se puede cancelar a mitad de camino si el jugador presiona la dirección contraria a la del impulso. También se cancela con un doble salto (</a:t>
            </a:r>
            <a:r>
              <a:rPr lang="es-CO" sz="1200" dirty="0" err="1"/>
              <a:t>double</a:t>
            </a:r>
            <a:r>
              <a:rPr lang="es-CO" sz="1200" dirty="0"/>
              <a:t> </a:t>
            </a:r>
            <a:r>
              <a:rPr lang="es-CO" sz="1200" dirty="0" err="1"/>
              <a:t>jump</a:t>
            </a:r>
            <a:r>
              <a:rPr lang="es-CO" sz="1200" dirty="0"/>
              <a:t>).</a:t>
            </a:r>
          </a:p>
        </p:txBody>
      </p:sp>
      <p:sp>
        <p:nvSpPr>
          <p:cNvPr id="13" name="Marcador de contenido 2">
            <a:extLst>
              <a:ext uri="{FF2B5EF4-FFF2-40B4-BE49-F238E27FC236}">
                <a16:creationId xmlns:a16="http://schemas.microsoft.com/office/drawing/2014/main" id="{8B9BEE07-0609-805A-A7A1-C83C01C2EA1D}"/>
              </a:ext>
            </a:extLst>
          </p:cNvPr>
          <p:cNvSpPr txBox="1">
            <a:spLocks/>
          </p:cNvSpPr>
          <p:nvPr/>
        </p:nvSpPr>
        <p:spPr>
          <a:xfrm>
            <a:off x="180109" y="2320358"/>
            <a:ext cx="2923309" cy="417251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Condiciones para estar en este estado</a:t>
            </a:r>
            <a:r>
              <a:rPr lang="es-CO" sz="1200" dirty="0"/>
              <a:t>:</a:t>
            </a:r>
          </a:p>
          <a:p>
            <a:pPr>
              <a:buFontTx/>
              <a:buChar char="-"/>
            </a:pPr>
            <a:r>
              <a:rPr lang="es-CO" sz="1200" dirty="0"/>
              <a:t>El jugador pulsa el botón de impulso.</a:t>
            </a:r>
          </a:p>
        </p:txBody>
      </p:sp>
      <p:sp>
        <p:nvSpPr>
          <p:cNvPr id="14" name="Marcador de contenido 2">
            <a:extLst>
              <a:ext uri="{FF2B5EF4-FFF2-40B4-BE49-F238E27FC236}">
                <a16:creationId xmlns:a16="http://schemas.microsoft.com/office/drawing/2014/main" id="{166DE6B4-E7AB-EE02-D3B3-83ADB8B78E74}"/>
              </a:ext>
            </a:extLst>
          </p:cNvPr>
          <p:cNvSpPr txBox="1">
            <a:spLocks/>
          </p:cNvSpPr>
          <p:nvPr/>
        </p:nvSpPr>
        <p:spPr>
          <a:xfrm>
            <a:off x="4267200" y="2320358"/>
            <a:ext cx="2923309" cy="417251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Desde este estado se puede pasar a los siguientes estados</a:t>
            </a:r>
            <a:r>
              <a:rPr lang="es-CO" sz="1200" dirty="0"/>
              <a:t>:</a:t>
            </a:r>
          </a:p>
          <a:p>
            <a:pPr>
              <a:buFontTx/>
              <a:buChar char="-"/>
            </a:pPr>
            <a:r>
              <a:rPr lang="es-CO" sz="1200" dirty="0"/>
              <a:t>Reposo (Idle)</a:t>
            </a:r>
          </a:p>
          <a:p>
            <a:pPr>
              <a:buFontTx/>
              <a:buChar char="-"/>
            </a:pPr>
            <a:r>
              <a:rPr lang="es-CO" sz="1200" dirty="0"/>
              <a:t>Caminar (</a:t>
            </a:r>
            <a:r>
              <a:rPr lang="es-CO" sz="1200" dirty="0" err="1"/>
              <a:t>Walk</a:t>
            </a:r>
            <a:r>
              <a:rPr lang="es-CO" sz="1200" dirty="0"/>
              <a:t>)</a:t>
            </a:r>
          </a:p>
          <a:p>
            <a:pPr>
              <a:buFontTx/>
              <a:buChar char="-"/>
            </a:pPr>
            <a:r>
              <a:rPr lang="es-CO" sz="1200" dirty="0"/>
              <a:t>Salto (</a:t>
            </a:r>
            <a:r>
              <a:rPr lang="es-CO" sz="1200" dirty="0" err="1"/>
              <a:t>Jump</a:t>
            </a:r>
            <a:r>
              <a:rPr lang="es-CO" sz="1200" dirty="0"/>
              <a:t>)</a:t>
            </a:r>
          </a:p>
          <a:p>
            <a:pPr>
              <a:buFontTx/>
              <a:buChar char="-"/>
            </a:pPr>
            <a:r>
              <a:rPr lang="es-CO" sz="1200" dirty="0"/>
              <a:t>Doble Salto (</a:t>
            </a:r>
            <a:r>
              <a:rPr lang="es-CO" sz="1200" dirty="0" err="1"/>
              <a:t>Double</a:t>
            </a:r>
            <a:r>
              <a:rPr lang="es-CO" sz="1200" dirty="0"/>
              <a:t> </a:t>
            </a:r>
            <a:r>
              <a:rPr lang="es-CO" sz="1200" dirty="0" err="1"/>
              <a:t>Jump</a:t>
            </a:r>
            <a:r>
              <a:rPr lang="es-CO" sz="1200" dirty="0"/>
              <a:t>)</a:t>
            </a:r>
          </a:p>
          <a:p>
            <a:pPr>
              <a:buFontTx/>
              <a:buChar char="-"/>
            </a:pPr>
            <a:r>
              <a:rPr lang="es-CO" sz="1200" dirty="0"/>
              <a:t>Caer (</a:t>
            </a:r>
            <a:r>
              <a:rPr lang="es-CO" sz="1200" dirty="0" err="1"/>
              <a:t>Falling</a:t>
            </a:r>
            <a:r>
              <a:rPr lang="es-CO" sz="1200" dirty="0"/>
              <a:t>)</a:t>
            </a:r>
          </a:p>
          <a:p>
            <a:pPr>
              <a:buFontTx/>
              <a:buChar char="-"/>
            </a:pPr>
            <a:r>
              <a:rPr lang="es-CO" sz="1200" dirty="0"/>
              <a:t>Daño (</a:t>
            </a:r>
            <a:r>
              <a:rPr lang="es-CO" sz="1200" dirty="0" err="1"/>
              <a:t>Damage</a:t>
            </a:r>
            <a:r>
              <a:rPr lang="es-CO" sz="1200" dirty="0"/>
              <a:t>)</a:t>
            </a:r>
          </a:p>
        </p:txBody>
      </p:sp>
      <p:sp>
        <p:nvSpPr>
          <p:cNvPr id="15" name="Marcador de contenido 2">
            <a:extLst>
              <a:ext uri="{FF2B5EF4-FFF2-40B4-BE49-F238E27FC236}">
                <a16:creationId xmlns:a16="http://schemas.microsoft.com/office/drawing/2014/main" id="{9183BADD-5E96-EE1A-E0D1-A021780E8E2B}"/>
              </a:ext>
            </a:extLst>
          </p:cNvPr>
          <p:cNvSpPr txBox="1">
            <a:spLocks/>
          </p:cNvSpPr>
          <p:nvPr/>
        </p:nvSpPr>
        <p:spPr>
          <a:xfrm>
            <a:off x="8354291" y="2320357"/>
            <a:ext cx="3657600" cy="417251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Se llega a este estado desde los siguientes estados</a:t>
            </a:r>
            <a:r>
              <a:rPr lang="es-CO" sz="1200" dirty="0"/>
              <a:t>:</a:t>
            </a:r>
          </a:p>
          <a:p>
            <a:pPr>
              <a:buFontTx/>
              <a:buChar char="-"/>
            </a:pPr>
            <a:r>
              <a:rPr lang="es-CO" sz="1200" dirty="0"/>
              <a:t>Reposo (Idle)</a:t>
            </a:r>
          </a:p>
          <a:p>
            <a:pPr>
              <a:buFontTx/>
              <a:buChar char="-"/>
            </a:pPr>
            <a:r>
              <a:rPr lang="es-CO" sz="1200" dirty="0"/>
              <a:t>Caminar (</a:t>
            </a:r>
            <a:r>
              <a:rPr lang="es-CO" sz="1200" dirty="0" err="1"/>
              <a:t>Walk</a:t>
            </a:r>
            <a:r>
              <a:rPr lang="es-CO" sz="1200" dirty="0"/>
              <a:t>)</a:t>
            </a:r>
          </a:p>
          <a:p>
            <a:pPr>
              <a:buFontTx/>
              <a:buChar char="-"/>
            </a:pPr>
            <a:r>
              <a:rPr lang="es-CO" sz="1200" dirty="0"/>
              <a:t>Salto (</a:t>
            </a:r>
            <a:r>
              <a:rPr lang="es-CO" sz="1200" dirty="0" err="1"/>
              <a:t>Jump</a:t>
            </a:r>
            <a:r>
              <a:rPr lang="es-CO" sz="1200" dirty="0"/>
              <a:t>)</a:t>
            </a:r>
          </a:p>
          <a:p>
            <a:pPr>
              <a:buFontTx/>
              <a:buChar char="-"/>
            </a:pPr>
            <a:r>
              <a:rPr lang="es-CO" sz="1200" dirty="0"/>
              <a:t>Doble Salto (</a:t>
            </a:r>
            <a:r>
              <a:rPr lang="es-CO" sz="1200" dirty="0" err="1"/>
              <a:t>Double</a:t>
            </a:r>
            <a:r>
              <a:rPr lang="es-CO" sz="1200" dirty="0"/>
              <a:t> </a:t>
            </a:r>
            <a:r>
              <a:rPr lang="es-CO" sz="1200" dirty="0" err="1"/>
              <a:t>Jump</a:t>
            </a:r>
            <a:r>
              <a:rPr lang="es-CO" sz="1200" dirty="0"/>
              <a:t>)</a:t>
            </a:r>
          </a:p>
          <a:p>
            <a:pPr>
              <a:buFontTx/>
              <a:buChar char="-"/>
            </a:pPr>
            <a:r>
              <a:rPr lang="es-CO" sz="1200" dirty="0"/>
              <a:t>Salto de Pared (Wall </a:t>
            </a:r>
            <a:r>
              <a:rPr lang="es-CO" sz="1200" dirty="0" err="1"/>
              <a:t>Jump</a:t>
            </a:r>
            <a:r>
              <a:rPr lang="es-CO" sz="1200" dirty="0"/>
              <a:t>)</a:t>
            </a:r>
          </a:p>
          <a:p>
            <a:pPr>
              <a:buFontTx/>
              <a:buChar char="-"/>
            </a:pPr>
            <a:r>
              <a:rPr lang="es-CO" sz="1200" dirty="0"/>
              <a:t>Caer (</a:t>
            </a:r>
            <a:r>
              <a:rPr lang="es-CO" sz="1200" dirty="0" err="1"/>
              <a:t>Falling</a:t>
            </a:r>
            <a:r>
              <a:rPr lang="es-CO" sz="1200" dirty="0"/>
              <a:t>)</a:t>
            </a:r>
          </a:p>
          <a:p>
            <a:pPr>
              <a:buFontTx/>
              <a:buChar char="-"/>
            </a:pPr>
            <a:r>
              <a:rPr lang="es-CO" sz="1200" dirty="0"/>
              <a:t>Deslizamiento de Pared (Wall </a:t>
            </a:r>
            <a:r>
              <a:rPr lang="es-CO" sz="1200" dirty="0" err="1"/>
              <a:t>Slide</a:t>
            </a:r>
            <a:r>
              <a:rPr lang="es-CO" sz="1200" dirty="0"/>
              <a:t>)</a:t>
            </a:r>
          </a:p>
        </p:txBody>
      </p:sp>
      <p:pic>
        <p:nvPicPr>
          <p:cNvPr id="8" name="Imagen 7">
            <a:extLst>
              <a:ext uri="{FF2B5EF4-FFF2-40B4-BE49-F238E27FC236}">
                <a16:creationId xmlns:a16="http://schemas.microsoft.com/office/drawing/2014/main" id="{8FEFDFC8-63B9-EEDD-0438-2A92EE85AF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8800" y="1894043"/>
            <a:ext cx="914400" cy="304800"/>
          </a:xfrm>
          <a:prstGeom prst="rect">
            <a:avLst/>
          </a:prstGeom>
        </p:spPr>
      </p:pic>
    </p:spTree>
    <p:extLst>
      <p:ext uri="{BB962C8B-B14F-4D97-AF65-F5344CB8AC3E}">
        <p14:creationId xmlns:p14="http://schemas.microsoft.com/office/powerpoint/2010/main" val="23981559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8"/>
            <a:ext cx="11845636" cy="537962"/>
          </a:xfrm>
        </p:spPr>
        <p:txBody>
          <a:bodyPr wrap="square">
            <a:noAutofit/>
          </a:bodyPr>
          <a:lstStyle/>
          <a:p>
            <a:pPr marL="0" indent="0">
              <a:buNone/>
            </a:pPr>
            <a:r>
              <a:rPr lang="es-CO" sz="1200" b="1" dirty="0"/>
              <a:t>Daño (</a:t>
            </a:r>
            <a:r>
              <a:rPr lang="es-CO" sz="1200" b="1" dirty="0" err="1"/>
              <a:t>Damage</a:t>
            </a:r>
            <a:r>
              <a:rPr lang="es-CO" sz="1200" b="1" dirty="0"/>
              <a:t>)</a:t>
            </a:r>
            <a:r>
              <a:rPr lang="es-CO" sz="1200" dirty="0"/>
              <a:t>: En este estado el personaje recibe daño, lo que puede ocurrir al recibir un ataque de un enemigo, interactuar con ciertos elementos del escenario. Se usará una animación que muestra al personaje recibiendo el daño, se mueve un poco hacia atrás y por un segundo no se podrá mover, y por otro segundo será invulnerable.</a:t>
            </a:r>
          </a:p>
        </p:txBody>
      </p:sp>
      <p:sp>
        <p:nvSpPr>
          <p:cNvPr id="13" name="Marcador de contenido 2">
            <a:extLst>
              <a:ext uri="{FF2B5EF4-FFF2-40B4-BE49-F238E27FC236}">
                <a16:creationId xmlns:a16="http://schemas.microsoft.com/office/drawing/2014/main" id="{8B9BEE07-0609-805A-A7A1-C83C01C2EA1D}"/>
              </a:ext>
            </a:extLst>
          </p:cNvPr>
          <p:cNvSpPr txBox="1">
            <a:spLocks/>
          </p:cNvSpPr>
          <p:nvPr/>
        </p:nvSpPr>
        <p:spPr>
          <a:xfrm>
            <a:off x="180109" y="2010868"/>
            <a:ext cx="2923309" cy="448200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Condiciones para estar en este estado</a:t>
            </a:r>
            <a:r>
              <a:rPr lang="es-CO" sz="1200" dirty="0"/>
              <a:t>:</a:t>
            </a:r>
          </a:p>
          <a:p>
            <a:pPr>
              <a:buFontTx/>
              <a:buChar char="-"/>
            </a:pPr>
            <a:r>
              <a:rPr lang="es-CO" sz="1200" dirty="0"/>
              <a:t>Recibir un ataque o interacción que represente daño para el personaje.</a:t>
            </a:r>
          </a:p>
        </p:txBody>
      </p:sp>
      <p:sp>
        <p:nvSpPr>
          <p:cNvPr id="14" name="Marcador de contenido 2">
            <a:extLst>
              <a:ext uri="{FF2B5EF4-FFF2-40B4-BE49-F238E27FC236}">
                <a16:creationId xmlns:a16="http://schemas.microsoft.com/office/drawing/2014/main" id="{166DE6B4-E7AB-EE02-D3B3-83ADB8B78E74}"/>
              </a:ext>
            </a:extLst>
          </p:cNvPr>
          <p:cNvSpPr txBox="1">
            <a:spLocks/>
          </p:cNvSpPr>
          <p:nvPr/>
        </p:nvSpPr>
        <p:spPr>
          <a:xfrm>
            <a:off x="4267200" y="2010868"/>
            <a:ext cx="2923309" cy="448200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Desde este estado se puede pasar a los siguientes estados</a:t>
            </a:r>
            <a:r>
              <a:rPr lang="es-CO" sz="1200" dirty="0"/>
              <a:t>:</a:t>
            </a:r>
          </a:p>
          <a:p>
            <a:pPr>
              <a:buFontTx/>
              <a:buChar char="-"/>
            </a:pPr>
            <a:r>
              <a:rPr lang="es-CO" sz="1200" dirty="0"/>
              <a:t>Reposo (Idle)</a:t>
            </a:r>
          </a:p>
          <a:p>
            <a:pPr>
              <a:buFontTx/>
              <a:buChar char="-"/>
            </a:pPr>
            <a:r>
              <a:rPr lang="es-CO" sz="1200" dirty="0"/>
              <a:t>Caer (</a:t>
            </a:r>
            <a:r>
              <a:rPr lang="es-CO" sz="1200" dirty="0" err="1"/>
              <a:t>Falling</a:t>
            </a:r>
            <a:r>
              <a:rPr lang="es-CO" sz="1200" dirty="0"/>
              <a:t>)</a:t>
            </a:r>
          </a:p>
        </p:txBody>
      </p:sp>
      <p:sp>
        <p:nvSpPr>
          <p:cNvPr id="15" name="Marcador de contenido 2">
            <a:extLst>
              <a:ext uri="{FF2B5EF4-FFF2-40B4-BE49-F238E27FC236}">
                <a16:creationId xmlns:a16="http://schemas.microsoft.com/office/drawing/2014/main" id="{9183BADD-5E96-EE1A-E0D1-A021780E8E2B}"/>
              </a:ext>
            </a:extLst>
          </p:cNvPr>
          <p:cNvSpPr txBox="1">
            <a:spLocks/>
          </p:cNvSpPr>
          <p:nvPr/>
        </p:nvSpPr>
        <p:spPr>
          <a:xfrm>
            <a:off x="8354291" y="2010867"/>
            <a:ext cx="3657600" cy="448200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1200" b="1" dirty="0"/>
              <a:t>Se llega a este estado desde los siguientes estados</a:t>
            </a:r>
            <a:r>
              <a:rPr lang="es-CO" sz="1200" dirty="0"/>
              <a:t>:</a:t>
            </a:r>
          </a:p>
          <a:p>
            <a:pPr>
              <a:buFontTx/>
              <a:buChar char="-"/>
            </a:pPr>
            <a:r>
              <a:rPr lang="es-CO" sz="1200" dirty="0"/>
              <a:t>Reposo (Idle)</a:t>
            </a:r>
          </a:p>
          <a:p>
            <a:pPr>
              <a:buFontTx/>
              <a:buChar char="-"/>
            </a:pPr>
            <a:r>
              <a:rPr lang="es-CO" sz="1200" dirty="0"/>
              <a:t>Caminar (</a:t>
            </a:r>
            <a:r>
              <a:rPr lang="es-CO" sz="1200" dirty="0" err="1"/>
              <a:t>Walk</a:t>
            </a:r>
            <a:r>
              <a:rPr lang="es-CO" sz="1200" dirty="0"/>
              <a:t>)</a:t>
            </a:r>
          </a:p>
          <a:p>
            <a:pPr>
              <a:buFontTx/>
              <a:buChar char="-"/>
            </a:pPr>
            <a:r>
              <a:rPr lang="es-CO" sz="1200" dirty="0"/>
              <a:t>Salto (</a:t>
            </a:r>
            <a:r>
              <a:rPr lang="es-CO" sz="1200" dirty="0" err="1"/>
              <a:t>Jump</a:t>
            </a:r>
            <a:r>
              <a:rPr lang="es-CO" sz="1200" dirty="0"/>
              <a:t>)</a:t>
            </a:r>
          </a:p>
          <a:p>
            <a:pPr>
              <a:buFontTx/>
              <a:buChar char="-"/>
            </a:pPr>
            <a:r>
              <a:rPr lang="es-CO" sz="1200" dirty="0"/>
              <a:t>Doble Salto (</a:t>
            </a:r>
            <a:r>
              <a:rPr lang="es-CO" sz="1200" dirty="0" err="1"/>
              <a:t>Double</a:t>
            </a:r>
            <a:r>
              <a:rPr lang="es-CO" sz="1200" dirty="0"/>
              <a:t> </a:t>
            </a:r>
            <a:r>
              <a:rPr lang="es-CO" sz="1200" dirty="0" err="1"/>
              <a:t>Jump</a:t>
            </a:r>
            <a:r>
              <a:rPr lang="es-CO" sz="1200" dirty="0"/>
              <a:t>)</a:t>
            </a:r>
          </a:p>
          <a:p>
            <a:pPr>
              <a:buFontTx/>
              <a:buChar char="-"/>
            </a:pPr>
            <a:r>
              <a:rPr lang="es-CO" sz="1200" dirty="0"/>
              <a:t>Salto de Pared (Wall </a:t>
            </a:r>
            <a:r>
              <a:rPr lang="es-CO" sz="1200" dirty="0" err="1"/>
              <a:t>Jump</a:t>
            </a:r>
            <a:r>
              <a:rPr lang="es-CO" sz="1200" dirty="0"/>
              <a:t>)</a:t>
            </a:r>
          </a:p>
          <a:p>
            <a:pPr>
              <a:buFontTx/>
              <a:buChar char="-"/>
            </a:pPr>
            <a:r>
              <a:rPr lang="es-CO" sz="1200" dirty="0"/>
              <a:t>Caer (</a:t>
            </a:r>
            <a:r>
              <a:rPr lang="es-CO" sz="1200" dirty="0" err="1"/>
              <a:t>Falling</a:t>
            </a:r>
            <a:r>
              <a:rPr lang="es-CO" sz="1200" dirty="0"/>
              <a:t>)</a:t>
            </a:r>
          </a:p>
          <a:p>
            <a:pPr>
              <a:buFontTx/>
              <a:buChar char="-"/>
            </a:pPr>
            <a:r>
              <a:rPr lang="es-CO" sz="1200" dirty="0"/>
              <a:t>Deslizamiento de Pared (Wall </a:t>
            </a:r>
            <a:r>
              <a:rPr lang="es-CO" sz="1200" dirty="0" err="1"/>
              <a:t>Slide</a:t>
            </a:r>
            <a:r>
              <a:rPr lang="es-CO" sz="1200" dirty="0"/>
              <a:t>)</a:t>
            </a:r>
          </a:p>
          <a:p>
            <a:pPr>
              <a:buFontTx/>
              <a:buChar char="-"/>
            </a:pPr>
            <a:r>
              <a:rPr lang="es-CO" sz="1200" dirty="0"/>
              <a:t>Impulso (</a:t>
            </a:r>
            <a:r>
              <a:rPr lang="es-CO" sz="1200" dirty="0" err="1"/>
              <a:t>Dash</a:t>
            </a:r>
            <a:r>
              <a:rPr lang="es-CO" sz="1200" dirty="0"/>
              <a:t>)</a:t>
            </a:r>
          </a:p>
        </p:txBody>
      </p:sp>
      <p:pic>
        <p:nvPicPr>
          <p:cNvPr id="5" name="Imagen 4">
            <a:extLst>
              <a:ext uri="{FF2B5EF4-FFF2-40B4-BE49-F238E27FC236}">
                <a16:creationId xmlns:a16="http://schemas.microsoft.com/office/drawing/2014/main" id="{6A1046F4-DB50-F78F-A7BE-ACB1AA90EE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86400" y="1584554"/>
            <a:ext cx="1219200" cy="304800"/>
          </a:xfrm>
          <a:prstGeom prst="rect">
            <a:avLst/>
          </a:prstGeom>
        </p:spPr>
      </p:pic>
    </p:spTree>
    <p:extLst>
      <p:ext uri="{BB962C8B-B14F-4D97-AF65-F5344CB8AC3E}">
        <p14:creationId xmlns:p14="http://schemas.microsoft.com/office/powerpoint/2010/main" val="4214053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B5EC1-40C4-0081-573D-123388DCF793}"/>
              </a:ext>
            </a:extLst>
          </p:cNvPr>
          <p:cNvSpPr>
            <a:spLocks noGrp="1"/>
          </p:cNvSpPr>
          <p:nvPr>
            <p:ph type="title"/>
          </p:nvPr>
        </p:nvSpPr>
        <p:spPr>
          <a:xfrm>
            <a:off x="166255" y="365125"/>
            <a:ext cx="11845636" cy="438439"/>
          </a:xfrm>
        </p:spPr>
        <p:txBody>
          <a:bodyPr>
            <a:normAutofit/>
          </a:bodyPr>
          <a:lstStyle/>
          <a:p>
            <a:r>
              <a:rPr lang="es-CO" sz="2000" b="1" dirty="0"/>
              <a:t>MECÁNICAS – PERSONAJE PRINCIPAL</a:t>
            </a:r>
          </a:p>
        </p:txBody>
      </p:sp>
      <p:sp>
        <p:nvSpPr>
          <p:cNvPr id="3" name="Marcador de contenido 2">
            <a:extLst>
              <a:ext uri="{FF2B5EF4-FFF2-40B4-BE49-F238E27FC236}">
                <a16:creationId xmlns:a16="http://schemas.microsoft.com/office/drawing/2014/main" id="{D6B029B8-96C3-7686-DF83-8FA77A263F2C}"/>
              </a:ext>
            </a:extLst>
          </p:cNvPr>
          <p:cNvSpPr>
            <a:spLocks noGrp="1"/>
          </p:cNvSpPr>
          <p:nvPr>
            <p:ph idx="1"/>
          </p:nvPr>
        </p:nvSpPr>
        <p:spPr>
          <a:xfrm>
            <a:off x="166255" y="925077"/>
            <a:ext cx="11845636" cy="5567795"/>
          </a:xfrm>
        </p:spPr>
        <p:txBody>
          <a:bodyPr wrap="square">
            <a:noAutofit/>
          </a:bodyPr>
          <a:lstStyle/>
          <a:p>
            <a:pPr marL="0" indent="0">
              <a:buNone/>
            </a:pPr>
            <a:r>
              <a:rPr lang="es-CO" sz="1200" dirty="0"/>
              <a:t>A continuación se detallan algunas características de las habilidades del personaje principal:</a:t>
            </a:r>
          </a:p>
          <a:p>
            <a:pPr>
              <a:buFontTx/>
              <a:buChar char="-"/>
            </a:pPr>
            <a:r>
              <a:rPr lang="es-CO" sz="1200" b="1" dirty="0"/>
              <a:t>Caminar (</a:t>
            </a:r>
            <a:r>
              <a:rPr lang="es-CO" sz="1200" b="1" dirty="0" err="1"/>
              <a:t>Walk</a:t>
            </a:r>
            <a:r>
              <a:rPr lang="es-CO" sz="1200" b="1" dirty="0"/>
              <a:t>)</a:t>
            </a:r>
            <a:r>
              <a:rPr lang="es-CO" sz="1200" dirty="0"/>
              <a:t>: El personaje camina a una velocidad de 128 pixeles por segundo.</a:t>
            </a:r>
          </a:p>
          <a:p>
            <a:pPr>
              <a:buFontTx/>
              <a:buChar char="-"/>
            </a:pPr>
            <a:r>
              <a:rPr lang="es-CO" sz="1200" b="1" dirty="0"/>
              <a:t>Saltar (</a:t>
            </a:r>
            <a:r>
              <a:rPr lang="es-CO" sz="1200" b="1" dirty="0" err="1"/>
              <a:t>Jump</a:t>
            </a:r>
            <a:r>
              <a:rPr lang="es-CO" sz="1200" b="1" dirty="0"/>
              <a:t>)</a:t>
            </a:r>
            <a:r>
              <a:rPr lang="es-CO" sz="1200" dirty="0"/>
              <a:t>: El personaje inicia con un salto de nivel 0, pudiendo subir 16 pixeles, en el nivel 1 sube 32 pixeles, en el nivel 2 sube 48 pixeles, y en el nivel 3 sube 64 pixeles.</a:t>
            </a:r>
          </a:p>
          <a:p>
            <a:pPr>
              <a:buFontTx/>
              <a:buChar char="-"/>
            </a:pPr>
            <a:r>
              <a:rPr lang="es-CO" sz="1200" b="1" dirty="0"/>
              <a:t>Doble Salto (</a:t>
            </a:r>
            <a:r>
              <a:rPr lang="es-CO" sz="1200" b="1" dirty="0" err="1"/>
              <a:t>Double</a:t>
            </a:r>
            <a:r>
              <a:rPr lang="es-CO" sz="1200" b="1" dirty="0"/>
              <a:t> </a:t>
            </a:r>
            <a:r>
              <a:rPr lang="es-CO" sz="1200" b="1" dirty="0" err="1"/>
              <a:t>Jump</a:t>
            </a:r>
            <a:r>
              <a:rPr lang="es-CO" sz="1200" b="1" dirty="0"/>
              <a:t>)</a:t>
            </a:r>
            <a:r>
              <a:rPr lang="es-CO" sz="1200" dirty="0"/>
              <a:t>: Cuando el salto sube de nivel , este estado lo aplica igual. Se adquiere en cierto momento de la aventura, no se realiza desde el inicio. Una vez realizado un doble salto ya no se podrá realizar hasta tocar el suelo.</a:t>
            </a:r>
          </a:p>
          <a:p>
            <a:pPr>
              <a:buFontTx/>
              <a:buChar char="-"/>
            </a:pPr>
            <a:r>
              <a:rPr lang="es-CO" sz="1200" b="1" dirty="0"/>
              <a:t>Salto de Pared (Wall </a:t>
            </a:r>
            <a:r>
              <a:rPr lang="es-CO" sz="1200" b="1" dirty="0" err="1"/>
              <a:t>Jump</a:t>
            </a:r>
            <a:r>
              <a:rPr lang="es-CO" sz="1200" b="1" dirty="0"/>
              <a:t>)</a:t>
            </a:r>
            <a:r>
              <a:rPr lang="es-CO" sz="1200" dirty="0"/>
              <a:t>: Cuando el salto sube de nivel , este estado lo aplica igual. Se adquiere en cierto momento de la aventura, no se realiza desde el inicio. Se puede realizar cuando el personaje está tocando una pared y el jugador mantiene la dirección hacia esa parad y salta. Durante el salto el personaje se desplaza siempre en horizontal en la dirección opuesta a la pared y no puede cambiar de dirección hasta entrar en estado de caída, un doble salto, salto de otra pared, un impulso.</a:t>
            </a:r>
          </a:p>
          <a:p>
            <a:pPr>
              <a:buFontTx/>
              <a:buChar char="-"/>
            </a:pPr>
            <a:r>
              <a:rPr lang="es-CO" sz="1200" b="1" dirty="0"/>
              <a:t>Deslizamiento de Pared (Wall </a:t>
            </a:r>
            <a:r>
              <a:rPr lang="es-CO" sz="1200" b="1" dirty="0" err="1"/>
              <a:t>Slide</a:t>
            </a:r>
            <a:r>
              <a:rPr lang="es-CO" sz="1200" b="1" dirty="0"/>
              <a:t>)</a:t>
            </a:r>
            <a:r>
              <a:rPr lang="es-CO" sz="1200" dirty="0"/>
              <a:t>: El personaje se desliza lentamente a velocidad constante por una pared. Se adquiere en cierto momento de la aventura, no se realiza desde el inicio. Se puede realizar cuando el personaje está en el aire en caída, tocando una pared y el jugador esta pulsando la dirección hacia la pared.</a:t>
            </a:r>
          </a:p>
          <a:p>
            <a:pPr>
              <a:buFontTx/>
              <a:buChar char="-"/>
            </a:pPr>
            <a:r>
              <a:rPr lang="es-CO" sz="1200" b="1" dirty="0"/>
              <a:t>Caer (</a:t>
            </a:r>
            <a:r>
              <a:rPr lang="es-CO" sz="1200" b="1" dirty="0" err="1"/>
              <a:t>Falling</a:t>
            </a:r>
            <a:r>
              <a:rPr lang="es-CO" sz="1200" b="1" dirty="0"/>
              <a:t>)</a:t>
            </a:r>
            <a:r>
              <a:rPr lang="es-CO" sz="1200" dirty="0"/>
              <a:t>: La caída se realiza normalmente al estar en el aire, por efecto de la gravedad, pero en este estado la gravedad se incrementa al doble. Al terminar se restaura a su valor original.</a:t>
            </a:r>
          </a:p>
          <a:p>
            <a:pPr>
              <a:buFontTx/>
              <a:buChar char="-"/>
            </a:pPr>
            <a:r>
              <a:rPr lang="es-CO" sz="1200" b="1" dirty="0"/>
              <a:t>Aterrizaje (</a:t>
            </a:r>
            <a:r>
              <a:rPr lang="es-CO" sz="1200" b="1" dirty="0" err="1"/>
              <a:t>Landing</a:t>
            </a:r>
            <a:r>
              <a:rPr lang="es-CO" sz="1200" b="1" dirty="0"/>
              <a:t>)</a:t>
            </a:r>
            <a:r>
              <a:rPr lang="es-CO" sz="1200" dirty="0"/>
              <a:t>: En el aterrizaje el personaje se queda quieto por unos milisegundos. Ocurre por haber caído a una velocidad alta, la de la gravedad.</a:t>
            </a:r>
          </a:p>
          <a:p>
            <a:pPr>
              <a:buFontTx/>
              <a:buChar char="-"/>
            </a:pPr>
            <a:r>
              <a:rPr lang="es-CO" sz="1200" b="1" dirty="0"/>
              <a:t>Impulso (</a:t>
            </a:r>
            <a:r>
              <a:rPr lang="es-CO" sz="1200" b="1" dirty="0" err="1"/>
              <a:t>Dash</a:t>
            </a:r>
            <a:r>
              <a:rPr lang="es-CO" sz="1200" b="1" dirty="0"/>
              <a:t>)</a:t>
            </a:r>
            <a:r>
              <a:rPr lang="es-CO" sz="1200" dirty="0"/>
              <a:t>: El personaje se impulsa horizontalmente hacia la dirección en que el jugador indique en el control (izquierda o derecha). Se adquiere en cierto momento de la aventura, no se realiza desde el inicio. Se ejecuta cuando el jugador pulsa el botón para el impulso, y el personaje se desplaza más rápido de lo normal por una cierta distancia. El jugador puede cancelar el desplazamiento si pulsa la dirección opuesta al desplazamiento a medio camino. El impulso tiene un tiempo de espera (</a:t>
            </a:r>
            <a:r>
              <a:rPr lang="es-CO" sz="1200" dirty="0" err="1"/>
              <a:t>cooldown</a:t>
            </a:r>
            <a:r>
              <a:rPr lang="es-CO" sz="1200" dirty="0"/>
              <a:t>) antes de poder hacer otro. En el nivel 0 el impulso funciona solo estando en el suelo, en el nivel 1 se puede realizar en el aire, en el nivel 2 se puede usar como un impulso hacia arriba o abajo, en el nivel 3 funciona como una evasión. En el aire el impulso solo se puede hacer 1 vez.</a:t>
            </a:r>
          </a:p>
          <a:p>
            <a:pPr>
              <a:buFontTx/>
              <a:buChar char="-"/>
            </a:pPr>
            <a:r>
              <a:rPr lang="es-CO" sz="1200" b="1" dirty="0"/>
              <a:t>Daño (</a:t>
            </a:r>
            <a:r>
              <a:rPr lang="es-CO" sz="1200" b="1" dirty="0" err="1"/>
              <a:t>Damage</a:t>
            </a:r>
            <a:r>
              <a:rPr lang="es-CO" sz="1200" b="1" dirty="0"/>
              <a:t>)</a:t>
            </a:r>
            <a:r>
              <a:rPr lang="es-CO" sz="1200" dirty="0"/>
              <a:t>: No es una habilidad especial, pero se indica aquí que al recibir daño, el personaje se mueve un poco hacia atrás y termina siendo invulnerable por un segundo.</a:t>
            </a:r>
          </a:p>
        </p:txBody>
      </p:sp>
    </p:spTree>
    <p:extLst>
      <p:ext uri="{BB962C8B-B14F-4D97-AF65-F5344CB8AC3E}">
        <p14:creationId xmlns:p14="http://schemas.microsoft.com/office/powerpoint/2010/main" val="376097480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5009</TotalTime>
  <Words>3975</Words>
  <Application>Microsoft Office PowerPoint</Application>
  <PresentationFormat>Panorámica</PresentationFormat>
  <Paragraphs>234</Paragraphs>
  <Slides>16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16</vt:i4>
      </vt:variant>
    </vt:vector>
  </HeadingPairs>
  <TitlesOfParts>
    <vt:vector size="21" baseType="lpstr">
      <vt:lpstr>Aptos</vt:lpstr>
      <vt:lpstr>Aptos Display</vt:lpstr>
      <vt:lpstr>Arial</vt:lpstr>
      <vt:lpstr>Cambria Math</vt:lpstr>
      <vt:lpstr>Tema de Office</vt:lpstr>
      <vt:lpstr>DOCUMENTO DE DISEÑO</vt:lpstr>
      <vt:lpstr>CONTENIDO</vt:lpstr>
      <vt:lpstr>INTRODUCCIÓN</vt:lpstr>
      <vt:lpstr>HERRAMIENTAS - SOFTWARE</vt:lpstr>
      <vt:lpstr>MECÁNICAS</vt:lpstr>
      <vt:lpstr>MECÁNICAS – PERSONAJE PRINCIPAL</vt:lpstr>
      <vt:lpstr>MECÁNICAS – PERSONAJE PRINCIPAL</vt:lpstr>
      <vt:lpstr>MECÁNICAS – PERSONAJE PRINCIPAL</vt:lpstr>
      <vt:lpstr>MECÁNICAS – PERSONAJE PRINCIPAL</vt:lpstr>
      <vt:lpstr>MECÁNICAS – PERSONAJE PRINCIPAL</vt:lpstr>
      <vt:lpstr>MECÁNICAS – PERSONAJE PRINCIPAL</vt:lpstr>
      <vt:lpstr>MECÁNICAS – PERSONAJE PRINCIPAL</vt:lpstr>
      <vt:lpstr>MECÁNICAS – PERSONAJE PRINCIPAL</vt:lpstr>
      <vt:lpstr>MECÁNICAS – PERSONAJE PRINCIPAL</vt:lpstr>
      <vt:lpstr>MECÁNICAS – PERSONAJE PRINCIPAL</vt:lpstr>
      <vt:lpstr>MECÁNICAS – PERSONAJE PRINCIPAL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Dell</dc:creator>
  <cp:lastModifiedBy>Dell</cp:lastModifiedBy>
  <cp:revision>8</cp:revision>
  <dcterms:created xsi:type="dcterms:W3CDTF">2026-03-16T15:53:33Z</dcterms:created>
  <dcterms:modified xsi:type="dcterms:W3CDTF">2026-03-31T00:28:24Z</dcterms:modified>
</cp:coreProperties>
</file>